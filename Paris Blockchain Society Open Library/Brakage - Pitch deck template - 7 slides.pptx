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78" r:id="rId2"/>
    <p:sldId id="260" r:id="rId3"/>
    <p:sldId id="263" r:id="rId4"/>
    <p:sldId id="264" r:id="rId5"/>
    <p:sldId id="265" r:id="rId6"/>
    <p:sldId id="266" r:id="rId7"/>
    <p:sldId id="268" r:id="rId8"/>
    <p:sldId id="279" r:id="rId9"/>
    <p:sldId id="269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5EB2FC"/>
    <a:srgbClr val="FFC000"/>
    <a:srgbClr val="231F20"/>
    <a:srgbClr val="FFF2C9"/>
    <a:srgbClr val="454545"/>
    <a:srgbClr val="FF261A"/>
    <a:srgbClr val="404040"/>
    <a:srgbClr val="FE7068"/>
    <a:srgbClr val="0463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57" autoAdjust="0"/>
    <p:restoredTop sz="97030" autoAdjust="0"/>
  </p:normalViewPr>
  <p:slideViewPr>
    <p:cSldViewPr snapToGrid="0">
      <p:cViewPr>
        <p:scale>
          <a:sx n="100" d="100"/>
          <a:sy n="100" d="100"/>
        </p:scale>
        <p:origin x="360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9079901801873821E-2"/>
          <c:y val="7.7153931190516209E-2"/>
          <c:w val="0.94092015428001441"/>
          <c:h val="0.854305285798243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CA mensuel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  <a:effectLst/>
          </c:spPr>
          <c:invertIfNegative val="0"/>
          <c:dLbls>
            <c:numFmt formatCode="_(&quot;€&quot;* #,##0_);_(&quot;€&quot;* \(#,##0\);_(&quot;€&quot;* &quot;-&quot;_);_(@_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rgbClr val="231F20"/>
                    </a:solidFill>
                    <a:latin typeface="Avenir Next LT Pro" panose="020B0504020202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Feuil1!$A$2:$A$7</c:f>
              <c:numCache>
                <c:formatCode>mmm\-yy</c:formatCode>
                <c:ptCount val="6"/>
                <c:pt idx="0">
                  <c:v>44866</c:v>
                </c:pt>
                <c:pt idx="1">
                  <c:v>44896</c:v>
                </c:pt>
                <c:pt idx="2">
                  <c:v>44927</c:v>
                </c:pt>
                <c:pt idx="3">
                  <c:v>44958</c:v>
                </c:pt>
                <c:pt idx="4">
                  <c:v>44986</c:v>
                </c:pt>
                <c:pt idx="5">
                  <c:v>45017</c:v>
                </c:pt>
              </c:numCache>
            </c:numRef>
          </c:cat>
          <c:val>
            <c:numRef>
              <c:f>Feuil1!$B$2:$B$7</c:f>
              <c:numCache>
                <c:formatCode>General</c:formatCode>
                <c:ptCount val="6"/>
                <c:pt idx="0">
                  <c:v>200</c:v>
                </c:pt>
                <c:pt idx="1">
                  <c:v>400</c:v>
                </c:pt>
                <c:pt idx="2">
                  <c:v>800</c:v>
                </c:pt>
                <c:pt idx="3">
                  <c:v>1600</c:v>
                </c:pt>
                <c:pt idx="4">
                  <c:v>3200</c:v>
                </c:pt>
                <c:pt idx="5">
                  <c:v>6400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6D-4403-AB1B-8473B1700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93942991"/>
        <c:axId val="293942511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Feuil1!$C$1</c15:sqref>
                        </c15:formulaRef>
                      </c:ext>
                    </c:extLst>
                    <c:strCache>
                      <c:ptCount val="1"/>
                      <c:pt idx="0">
                        <c:v>Users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solidFill>
                      <a:srgbClr val="FFCE0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1" i="0" u="none" strike="noStrike" kern="1200" baseline="0">
                          <a:solidFill>
                            <a:srgbClr val="FFCE0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defRPr>
                      </a:pPr>
                      <a:endParaRPr lang="fr-FR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Feuil1!$A$2:$A$7</c15:sqref>
                        </c15:formulaRef>
                      </c:ext>
                    </c:extLst>
                    <c:numCache>
                      <c:formatCode>mmm\-yy</c:formatCode>
                      <c:ptCount val="6"/>
                      <c:pt idx="0">
                        <c:v>44866</c:v>
                      </c:pt>
                      <c:pt idx="1">
                        <c:v>44896</c:v>
                      </c:pt>
                      <c:pt idx="2">
                        <c:v>44927</c:v>
                      </c:pt>
                      <c:pt idx="3">
                        <c:v>44958</c:v>
                      </c:pt>
                      <c:pt idx="4">
                        <c:v>44986</c:v>
                      </c:pt>
                      <c:pt idx="5">
                        <c:v>45017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Feuil1!$C$2:$C$7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2</c:v>
                      </c:pt>
                      <c:pt idx="1">
                        <c:v>4</c:v>
                      </c:pt>
                      <c:pt idx="2">
                        <c:v>8</c:v>
                      </c:pt>
                      <c:pt idx="3">
                        <c:v>16</c:v>
                      </c:pt>
                      <c:pt idx="4">
                        <c:v>32</c:v>
                      </c:pt>
                      <c:pt idx="5">
                        <c:v>64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A6D-4403-AB1B-8473B1700C97}"/>
                  </c:ext>
                </c:extLst>
              </c15:ser>
            </c15:filteredBarSeries>
          </c:ext>
        </c:extLst>
      </c:barChart>
      <c:dateAx>
        <c:axId val="293942991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9CA1A6"/>
                </a:solidFill>
                <a:latin typeface="Avenir Next LT Pro" panose="020B05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fr-FR"/>
          </a:p>
        </c:txPr>
        <c:crossAx val="293942511"/>
        <c:crosses val="autoZero"/>
        <c:auto val="1"/>
        <c:lblOffset val="100"/>
        <c:baseTimeUnit val="months"/>
      </c:dateAx>
      <c:valAx>
        <c:axId val="2939425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fr-FR"/>
          </a:p>
        </c:txPr>
        <c:crossAx val="293942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pPr>
      <a:endParaRPr lang="fr-F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9079901801873821E-2"/>
          <c:y val="7.7153931190516209E-2"/>
          <c:w val="0.94092015428001441"/>
          <c:h val="0.798209397656291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CA mensuel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  <a:effectLst/>
          </c:spPr>
          <c:invertIfNegative val="0"/>
          <c:dLbls>
            <c:numFmt formatCode="#,##0&quot; k€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rgbClr val="231F20"/>
                    </a:solidFill>
                    <a:latin typeface="Avenir Next LT Pro" panose="020B0504020202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Feuil1!$A$2:$A$4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Feuil1!$B$2:$B$4</c:f>
              <c:numCache>
                <c:formatCode>General</c:formatCode>
                <c:ptCount val="3"/>
                <c:pt idx="0">
                  <c:v>250</c:v>
                </c:pt>
                <c:pt idx="1">
                  <c:v>600</c:v>
                </c:pt>
                <c:pt idx="2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6D-4403-AB1B-8473B1700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3942991"/>
        <c:axId val="293942511"/>
        <c:extLst/>
      </c:barChart>
      <c:catAx>
        <c:axId val="293942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9CA1A6"/>
                </a:solidFill>
                <a:latin typeface="Avenir Next LT Pro" panose="020B05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fr-FR"/>
          </a:p>
        </c:txPr>
        <c:crossAx val="293942511"/>
        <c:crosses val="autoZero"/>
        <c:auto val="1"/>
        <c:lblAlgn val="ctr"/>
        <c:lblOffset val="100"/>
        <c:noMultiLvlLbl val="1"/>
      </c:catAx>
      <c:valAx>
        <c:axId val="2939425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fr-FR"/>
          </a:p>
        </c:txPr>
        <c:crossAx val="293942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pPr>
      <a:endParaRPr lang="fr-F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BBFFF-0424-4C35-9FB6-9C2B77B6674D}" type="datetimeFigureOut">
              <a:rPr lang="fr-FR" smtClean="0"/>
              <a:t>05/10/2023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BD681-91BF-42E7-A1C5-3AB9A1F6B1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653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BD681-91BF-42E7-A1C5-3AB9A1F6B1F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0992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BD681-91BF-42E7-A1C5-3AB9A1F6B1F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5023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4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Logo 2 1" preserve="1" userDrawn="1">
  <p:cSld name="Slide Blanche">
    <p:bg>
      <p:bgPr>
        <a:solidFill>
          <a:schemeClr val="dk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071C067-4E75-FEF0-4D9A-3691DF0DD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640" y="551291"/>
            <a:ext cx="10515600" cy="589489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231F20"/>
                </a:solidFill>
                <a:latin typeface="Avenir Next LT Pro" panose="020B0504020202020204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3" name="Google Shape;39;p9">
            <a:extLst>
              <a:ext uri="{FF2B5EF4-FFF2-40B4-BE49-F238E27FC236}">
                <a16:creationId xmlns:a16="http://schemas.microsoft.com/office/drawing/2014/main" id="{2AEFD594-C8AF-8C8E-7827-0855EE7D81C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67640" y="1152734"/>
            <a:ext cx="10515600" cy="491984"/>
          </a:xfrm>
          <a:prstGeom prst="rect">
            <a:avLst/>
          </a:prstGeom>
        </p:spPr>
        <p:txBody>
          <a:bodyPr/>
          <a:lstStyle>
            <a:lvl1pPr>
              <a:defRPr sz="1800" b="0" dirty="0">
                <a:solidFill>
                  <a:srgbClr val="231F20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dirty="0"/>
          </a:p>
        </p:txBody>
      </p:sp>
      <p:sp>
        <p:nvSpPr>
          <p:cNvPr id="19" name="Espace réservé du numéro de diapositive 2">
            <a:extLst>
              <a:ext uri="{FF2B5EF4-FFF2-40B4-BE49-F238E27FC236}">
                <a16:creationId xmlns:a16="http://schemas.microsoft.com/office/drawing/2014/main" id="{510C3B2F-D7D3-7A91-5B53-18D47CE7183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90958" y="6313331"/>
            <a:ext cx="538479" cy="367401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rgbClr val="231F20"/>
                </a:solidFill>
                <a:latin typeface="Avenir Next LT Pro" panose="020B0504020202020204" pitchFamily="34" charset="0"/>
              </a:defRPr>
            </a:lvl1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‹N°›</a:t>
            </a:fld>
            <a:endParaRPr lang="fr-FR" kern="0" dirty="0">
              <a:cs typeface="Arial"/>
              <a:sym typeface="Arial"/>
            </a:endParaRPr>
          </a:p>
        </p:txBody>
      </p:sp>
      <p:pic>
        <p:nvPicPr>
          <p:cNvPr id="5" name="Image 4" descr="Une image contenant Police, Graphique, noir, capture d’écran&#10;&#10;Description générée automatiquement">
            <a:extLst>
              <a:ext uri="{FF2B5EF4-FFF2-40B4-BE49-F238E27FC236}">
                <a16:creationId xmlns:a16="http://schemas.microsoft.com/office/drawing/2014/main" id="{2DFE0F9F-2CC7-3775-8F9E-6789B90F93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09" y="6381866"/>
            <a:ext cx="1038239" cy="23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4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6">
          <p15:clr>
            <a:srgbClr val="FBAE40"/>
          </p15:clr>
        </p15:guide>
        <p15:guide id="2" orient="horz" pos="1032">
          <p15:clr>
            <a:srgbClr val="FBAE40"/>
          </p15:clr>
        </p15:guide>
        <p15:guide id="3" pos="33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95000"/>
            <a:lumOff val="5000"/>
          </a:schemeClr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83357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C35EA4"/>
          </p15:clr>
        </p15:guide>
        <p15:guide id="2" orient="horz" pos="1620">
          <p15:clr>
            <a:srgbClr val="C35EA4"/>
          </p15:clr>
        </p15:guide>
        <p15:guide id="3" orient="horz" pos="260">
          <p15:clr>
            <a:srgbClr val="9FCC3B"/>
          </p15:clr>
        </p15:guide>
        <p15:guide id="4" pos="261">
          <p15:clr>
            <a:srgbClr val="9FCC3B"/>
          </p15:clr>
        </p15:guide>
        <p15:guide id="5" orient="horz" pos="2981">
          <p15:clr>
            <a:srgbClr val="9FCC3B"/>
          </p15:clr>
        </p15:guide>
        <p15:guide id="6" pos="5500">
          <p15:clr>
            <a:srgbClr val="9FCC3B"/>
          </p15:clr>
        </p15:guide>
        <p15:guide id="7" orient="horz" pos="432">
          <p15:clr>
            <a:srgbClr val="F26B43"/>
          </p15:clr>
        </p15:guide>
        <p15:guide id="8" orient="horz" pos="600">
          <p15:clr>
            <a:srgbClr val="F26B43"/>
          </p15:clr>
        </p15:guide>
        <p15:guide id="9" orient="horz" pos="768">
          <p15:clr>
            <a:srgbClr val="F26B43"/>
          </p15:clr>
        </p15:guide>
        <p15:guide id="10" orient="horz" pos="936">
          <p15:clr>
            <a:srgbClr val="F26B43"/>
          </p15:clr>
        </p15:guide>
        <p15:guide id="11" orient="horz" pos="1452">
          <p15:clr>
            <a:srgbClr val="F26B43"/>
          </p15:clr>
        </p15:guide>
        <p15:guide id="12" orient="horz" pos="1284">
          <p15:clr>
            <a:srgbClr val="F26B43"/>
          </p15:clr>
        </p15:guide>
        <p15:guide id="13" orient="horz" pos="1116">
          <p15:clr>
            <a:srgbClr val="F26B43"/>
          </p15:clr>
        </p15:guide>
        <p15:guide id="14" orient="horz" pos="1788">
          <p15:clr>
            <a:srgbClr val="F26B43"/>
          </p15:clr>
        </p15:guide>
        <p15:guide id="15" orient="horz" pos="1956">
          <p15:clr>
            <a:srgbClr val="F26B43"/>
          </p15:clr>
        </p15:guide>
        <p15:guide id="16" orient="horz" pos="2640">
          <p15:clr>
            <a:srgbClr val="F26B43"/>
          </p15:clr>
        </p15:guide>
        <p15:guide id="17" orient="horz" pos="2304">
          <p15:clr>
            <a:srgbClr val="F26B43"/>
          </p15:clr>
        </p15:guide>
        <p15:guide id="18" orient="horz" pos="2472">
          <p15:clr>
            <a:srgbClr val="F26B43"/>
          </p15:clr>
        </p15:guide>
        <p15:guide id="19" orient="horz" pos="2136">
          <p15:clr>
            <a:srgbClr val="F26B43"/>
          </p15:clr>
        </p15:guide>
        <p15:guide id="20" orient="horz" pos="2808">
          <p15:clr>
            <a:srgbClr val="F26B43"/>
          </p15:clr>
        </p15:guide>
        <p15:guide id="21" pos="588">
          <p15:clr>
            <a:srgbClr val="F26B43"/>
          </p15:clr>
        </p15:guide>
        <p15:guide id="22" pos="912">
          <p15:clr>
            <a:srgbClr val="F26B43"/>
          </p15:clr>
        </p15:guide>
        <p15:guide id="23" pos="1236">
          <p15:clr>
            <a:srgbClr val="F26B43"/>
          </p15:clr>
        </p15:guide>
        <p15:guide id="24" pos="1572">
          <p15:clr>
            <a:srgbClr val="F26B43"/>
          </p15:clr>
        </p15:guide>
        <p15:guide id="25" pos="1896">
          <p15:clr>
            <a:srgbClr val="F26B43"/>
          </p15:clr>
        </p15:guide>
        <p15:guide id="26" pos="2220">
          <p15:clr>
            <a:srgbClr val="F26B43"/>
          </p15:clr>
        </p15:guide>
        <p15:guide id="27" pos="2556">
          <p15:clr>
            <a:srgbClr val="F26B43"/>
          </p15:clr>
        </p15:guide>
        <p15:guide id="28" pos="3204">
          <p15:clr>
            <a:srgbClr val="F26B43"/>
          </p15:clr>
        </p15:guide>
        <p15:guide id="29" pos="3540">
          <p15:clr>
            <a:srgbClr val="F26B43"/>
          </p15:clr>
        </p15:guide>
        <p15:guide id="30" pos="3864">
          <p15:clr>
            <a:srgbClr val="F26B43"/>
          </p15:clr>
        </p15:guide>
        <p15:guide id="31" pos="4188">
          <p15:clr>
            <a:srgbClr val="F26B43"/>
          </p15:clr>
        </p15:guide>
        <p15:guide id="32" pos="4512">
          <p15:clr>
            <a:srgbClr val="F26B43"/>
          </p15:clr>
        </p15:guide>
        <p15:guide id="33" pos="5172">
          <p15:clr>
            <a:srgbClr val="F26B43"/>
          </p15:clr>
        </p15:guide>
        <p15:guide id="34" pos="48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mailto:pr&#233;nom-nom@startup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081EEE72-ADAA-0E44-6AFC-8953EC219FE0}"/>
              </a:ext>
            </a:extLst>
          </p:cNvPr>
          <p:cNvGrpSpPr/>
          <p:nvPr/>
        </p:nvGrpSpPr>
        <p:grpSpPr>
          <a:xfrm>
            <a:off x="2154365" y="2651866"/>
            <a:ext cx="7883271" cy="1669317"/>
            <a:chOff x="2838449" y="2995930"/>
            <a:chExt cx="6515100" cy="1379601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1CE379CE-70BC-3715-3365-49EBD0512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19244" y="2995930"/>
              <a:ext cx="3953510" cy="866141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C5F56E72-F51F-7B09-073D-918472F058B6}"/>
                </a:ext>
              </a:extLst>
            </p:cNvPr>
            <p:cNvSpPr txBox="1"/>
            <p:nvPr/>
          </p:nvSpPr>
          <p:spPr>
            <a:xfrm>
              <a:off x="2838449" y="4070298"/>
              <a:ext cx="6515100" cy="3052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i="0" dirty="0">
                  <a:solidFill>
                    <a:schemeClr val="bg2"/>
                  </a:solidFill>
                  <a:effectLst/>
                  <a:latin typeface="Avenir Next LT Pro" panose="020B0504020202020204" pitchFamily="34" charset="0"/>
                </a:rPr>
                <a:t>[base line]</a:t>
              </a:r>
            </a:p>
          </p:txBody>
        </p:sp>
      </p:grpSp>
      <p:sp>
        <p:nvSpPr>
          <p:cNvPr id="2" name="Google Shape;297;p87">
            <a:extLst>
              <a:ext uri="{FF2B5EF4-FFF2-40B4-BE49-F238E27FC236}">
                <a16:creationId xmlns:a16="http://schemas.microsoft.com/office/drawing/2014/main" id="{B2718D94-B602-6630-EFA8-D448D006A07E}"/>
              </a:ext>
            </a:extLst>
          </p:cNvPr>
          <p:cNvSpPr txBox="1">
            <a:spLocks/>
          </p:cNvSpPr>
          <p:nvPr/>
        </p:nvSpPr>
        <p:spPr>
          <a:xfrm>
            <a:off x="3974699" y="6330939"/>
            <a:ext cx="4242600" cy="371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100" kern="0" dirty="0">
                <a:solidFill>
                  <a:schemeClr val="dk2"/>
                </a:solidFill>
                <a:latin typeface="Avenir Next LT Pro" panose="020B0504020202020204" pitchFamily="34" charset="0"/>
                <a:ea typeface="Montserrat Black"/>
                <a:cs typeface="Montserrat Black"/>
                <a:sym typeface="Montserrat Black"/>
              </a:rPr>
              <a:t>Deck investisseur – [mois] 2023 – Confidentiel </a:t>
            </a:r>
            <a:endParaRPr lang="fr-FR" sz="600" kern="0" dirty="0">
              <a:solidFill>
                <a:schemeClr val="dk2"/>
              </a:solidFill>
              <a:latin typeface="Avenir Next LT Pro" panose="020B0504020202020204" pitchFamily="34" charset="0"/>
              <a:ea typeface="Montserrat Black"/>
              <a:cs typeface="Montserrat Black"/>
              <a:sym typeface="Montserrat Black"/>
            </a:endParaRPr>
          </a:p>
        </p:txBody>
      </p:sp>
    </p:spTree>
    <p:extLst>
      <p:ext uri="{BB962C8B-B14F-4D97-AF65-F5344CB8AC3E}">
        <p14:creationId xmlns:p14="http://schemas.microsoft.com/office/powerpoint/2010/main" val="3886034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1B9837-3FBA-739F-A91E-B232D69B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Marché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EB4A4-030D-EB75-1C04-6CD6A2F13A1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fr-FR" dirty="0"/>
              <a:t>[sous-titre]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9D358E4-E92C-E8BF-511D-3DE623BCA2A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prstGeom prst="rect">
            <a:avLst/>
          </a:prstGeom>
        </p:spPr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latin typeface="Avenir Next LT Pro" panose="020B0504020202020204" pitchFamily="34" charset="0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2</a:t>
            </a:fld>
            <a:endParaRPr lang="fr-FR" kern="0" dirty="0">
              <a:latin typeface="Avenir Next LT Pro" panose="020B0504020202020204" pitchFamily="34" charset="0"/>
              <a:cs typeface="Arial"/>
              <a:sym typeface="Arial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444876-59C1-7CC7-B3E5-0A26A0D6B636}"/>
              </a:ext>
            </a:extLst>
          </p:cNvPr>
          <p:cNvSpPr txBox="1">
            <a:spLocks/>
          </p:cNvSpPr>
          <p:nvPr/>
        </p:nvSpPr>
        <p:spPr>
          <a:xfrm>
            <a:off x="1677270" y="6353932"/>
            <a:ext cx="7886700" cy="25262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dirty="0">
                <a:solidFill>
                  <a:srgbClr val="1D1E3E"/>
                </a:solidFill>
                <a:latin typeface="Fira Sans Light" panose="020B04030500000200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050" dirty="0">
                <a:solidFill>
                  <a:schemeClr val="tx2">
                    <a:lumMod val="50000"/>
                    <a:lumOff val="50000"/>
                  </a:schemeClr>
                </a:solidFill>
                <a:latin typeface="Avenir Next LT Pro" panose="020B0504020202020204" pitchFamily="34" charset="0"/>
              </a:rPr>
              <a:t>Sources : </a:t>
            </a:r>
            <a:r>
              <a:rPr lang="fr-FR" sz="1000" dirty="0">
                <a:solidFill>
                  <a:schemeClr val="tx2">
                    <a:lumMod val="50000"/>
                    <a:lumOff val="50000"/>
                  </a:schemeClr>
                </a:solidFill>
                <a:latin typeface="Avenir Next LT Pro" panose="020B0504020202020204" pitchFamily="34" charset="0"/>
              </a:rPr>
              <a:t>Source 1 ; Source 2</a:t>
            </a:r>
            <a:endParaRPr lang="fr-FR" sz="1050" dirty="0">
              <a:solidFill>
                <a:schemeClr val="tx2">
                  <a:lumMod val="50000"/>
                  <a:lumOff val="50000"/>
                </a:schemeClr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4" name="Google Shape;495;p104">
            <a:extLst>
              <a:ext uri="{FF2B5EF4-FFF2-40B4-BE49-F238E27FC236}">
                <a16:creationId xmlns:a16="http://schemas.microsoft.com/office/drawing/2014/main" id="{DEAE80CD-B788-D425-610E-2140D9456D0F}"/>
              </a:ext>
            </a:extLst>
          </p:cNvPr>
          <p:cNvSpPr/>
          <p:nvPr/>
        </p:nvSpPr>
        <p:spPr>
          <a:xfrm>
            <a:off x="7782812" y="1739911"/>
            <a:ext cx="2764554" cy="335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3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dirty="0">
                <a:solidFill>
                  <a:srgbClr val="231F20"/>
                </a:solidFill>
                <a:latin typeface="Avenir Next LT Pro" panose="020B05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Fira Sans"/>
              </a:rPr>
              <a:t>CHIFFRES CLÉS DU MARCHÉ </a:t>
            </a: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venir Next LT Pro" panose="020B05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Fira Sans Light"/>
            </a:endParaRP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805278F4-3154-EAD0-673F-D1253B1ABC71}"/>
              </a:ext>
            </a:extLst>
          </p:cNvPr>
          <p:cNvGrpSpPr/>
          <p:nvPr/>
        </p:nvGrpSpPr>
        <p:grpSpPr>
          <a:xfrm>
            <a:off x="7350199" y="2267001"/>
            <a:ext cx="3532197" cy="985741"/>
            <a:chOff x="1132167" y="2603640"/>
            <a:chExt cx="3532197" cy="985741"/>
          </a:xfrm>
        </p:grpSpPr>
        <p:sp>
          <p:nvSpPr>
            <p:cNvPr id="39" name="Rectangle : coins arrondis 38">
              <a:extLst>
                <a:ext uri="{FF2B5EF4-FFF2-40B4-BE49-F238E27FC236}">
                  <a16:creationId xmlns:a16="http://schemas.microsoft.com/office/drawing/2014/main" id="{5F461AC9-CA8A-91B1-0B5F-F086468D75C8}"/>
                </a:ext>
              </a:extLst>
            </p:cNvPr>
            <p:cNvSpPr/>
            <p:nvPr/>
          </p:nvSpPr>
          <p:spPr>
            <a:xfrm>
              <a:off x="1132167" y="2603640"/>
              <a:ext cx="3532197" cy="985741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sp>
          <p:nvSpPr>
            <p:cNvPr id="40" name="Google Shape;260;p23">
              <a:extLst>
                <a:ext uri="{FF2B5EF4-FFF2-40B4-BE49-F238E27FC236}">
                  <a16:creationId xmlns:a16="http://schemas.microsoft.com/office/drawing/2014/main" id="{A4C19C1C-F84B-A968-2AEF-3A83217B3A35}"/>
                </a:ext>
              </a:extLst>
            </p:cNvPr>
            <p:cNvSpPr txBox="1"/>
            <p:nvPr/>
          </p:nvSpPr>
          <p:spPr>
            <a:xfrm>
              <a:off x="1435588" y="2679862"/>
              <a:ext cx="2938448" cy="821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2400" b="1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"/>
                  <a:cs typeface="Lexend Deca"/>
                  <a:sym typeface="Lexend Deca"/>
                </a:rPr>
                <a:t>XX</a:t>
              </a:r>
            </a:p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1200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"/>
                </a:rPr>
                <a:t>Chiffre clé marché </a:t>
              </a:r>
              <a:endParaRPr sz="12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 Light"/>
              </a:endParaRPr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09B26B46-8F95-EDFF-34ED-38802774CC4D}"/>
              </a:ext>
            </a:extLst>
          </p:cNvPr>
          <p:cNvGrpSpPr/>
          <p:nvPr/>
        </p:nvGrpSpPr>
        <p:grpSpPr>
          <a:xfrm>
            <a:off x="7350198" y="3455015"/>
            <a:ext cx="3532197" cy="985741"/>
            <a:chOff x="1132167" y="2603640"/>
            <a:chExt cx="3532197" cy="985741"/>
          </a:xfrm>
        </p:grpSpPr>
        <p:sp>
          <p:nvSpPr>
            <p:cNvPr id="42" name="Rectangle : coins arrondis 41">
              <a:extLst>
                <a:ext uri="{FF2B5EF4-FFF2-40B4-BE49-F238E27FC236}">
                  <a16:creationId xmlns:a16="http://schemas.microsoft.com/office/drawing/2014/main" id="{04ACECE6-3A85-C64E-52AB-6B67C0BBC5F6}"/>
                </a:ext>
              </a:extLst>
            </p:cNvPr>
            <p:cNvSpPr/>
            <p:nvPr/>
          </p:nvSpPr>
          <p:spPr>
            <a:xfrm>
              <a:off x="1132167" y="2603640"/>
              <a:ext cx="3532197" cy="985741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sp>
          <p:nvSpPr>
            <p:cNvPr id="43" name="Google Shape;260;p23">
              <a:extLst>
                <a:ext uri="{FF2B5EF4-FFF2-40B4-BE49-F238E27FC236}">
                  <a16:creationId xmlns:a16="http://schemas.microsoft.com/office/drawing/2014/main" id="{62ECC1C8-8A02-B7C6-BDDD-269D4D0EBCE4}"/>
                </a:ext>
              </a:extLst>
            </p:cNvPr>
            <p:cNvSpPr txBox="1"/>
            <p:nvPr/>
          </p:nvSpPr>
          <p:spPr>
            <a:xfrm>
              <a:off x="1435588" y="2679862"/>
              <a:ext cx="2938448" cy="821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2400" b="1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"/>
                  <a:cs typeface="Lexend Deca"/>
                  <a:sym typeface="Lexend Deca"/>
                </a:rPr>
                <a:t>XX</a:t>
              </a:r>
            </a:p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1200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"/>
                </a:rPr>
                <a:t>Chiffre clé marché </a:t>
              </a:r>
              <a:endParaRPr sz="12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 Light"/>
              </a:endParaRPr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89A3607C-4445-0749-25F1-DC38A0427114}"/>
              </a:ext>
            </a:extLst>
          </p:cNvPr>
          <p:cNvGrpSpPr/>
          <p:nvPr/>
        </p:nvGrpSpPr>
        <p:grpSpPr>
          <a:xfrm>
            <a:off x="7350197" y="4643029"/>
            <a:ext cx="3532197" cy="985741"/>
            <a:chOff x="1132167" y="2603640"/>
            <a:chExt cx="3532197" cy="985741"/>
          </a:xfrm>
        </p:grpSpPr>
        <p:sp>
          <p:nvSpPr>
            <p:cNvPr id="45" name="Rectangle : coins arrondis 44">
              <a:extLst>
                <a:ext uri="{FF2B5EF4-FFF2-40B4-BE49-F238E27FC236}">
                  <a16:creationId xmlns:a16="http://schemas.microsoft.com/office/drawing/2014/main" id="{8F0B10EC-AC9E-CCD6-1E0D-4400629C09F4}"/>
                </a:ext>
              </a:extLst>
            </p:cNvPr>
            <p:cNvSpPr/>
            <p:nvPr/>
          </p:nvSpPr>
          <p:spPr>
            <a:xfrm>
              <a:off x="1132167" y="2603640"/>
              <a:ext cx="3532197" cy="985741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sp>
          <p:nvSpPr>
            <p:cNvPr id="46" name="Google Shape;260;p23">
              <a:extLst>
                <a:ext uri="{FF2B5EF4-FFF2-40B4-BE49-F238E27FC236}">
                  <a16:creationId xmlns:a16="http://schemas.microsoft.com/office/drawing/2014/main" id="{6D3DB20A-A72A-A631-C547-6C27D264A222}"/>
                </a:ext>
              </a:extLst>
            </p:cNvPr>
            <p:cNvSpPr txBox="1"/>
            <p:nvPr/>
          </p:nvSpPr>
          <p:spPr>
            <a:xfrm>
              <a:off x="1435588" y="2679862"/>
              <a:ext cx="2938448" cy="821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2400" b="1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"/>
                  <a:cs typeface="Lexend Deca"/>
                  <a:sym typeface="Lexend Deca"/>
                </a:rPr>
                <a:t>XX</a:t>
              </a:r>
            </a:p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1200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"/>
                </a:rPr>
                <a:t>Chiffre clé marché </a:t>
              </a:r>
              <a:endParaRPr sz="12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 Light"/>
              </a:endParaRPr>
            </a:p>
          </p:txBody>
        </p:sp>
      </p:grpSp>
      <p:sp>
        <p:nvSpPr>
          <p:cNvPr id="47" name="Espace réservé du numéro de diapositive 2">
            <a:extLst>
              <a:ext uri="{FF2B5EF4-FFF2-40B4-BE49-F238E27FC236}">
                <a16:creationId xmlns:a16="http://schemas.microsoft.com/office/drawing/2014/main" id="{9443C39C-33EF-7457-E557-3C4FAB235AD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90958" y="6313331"/>
            <a:ext cx="538479" cy="367401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rgbClr val="231F20"/>
                </a:solidFill>
                <a:latin typeface="Avenir Next LT Pro" panose="020B0504020202020204" pitchFamily="34" charset="0"/>
              </a:defRPr>
            </a:lvl1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2</a:t>
            </a:fld>
            <a:endParaRPr lang="fr-FR" kern="0" dirty="0">
              <a:cs typeface="Arial"/>
              <a:sym typeface="Arial"/>
            </a:endParaRPr>
          </a:p>
        </p:txBody>
      </p: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D0F12B18-97EF-757C-E5D7-B8E0E96FEB4A}"/>
              </a:ext>
            </a:extLst>
          </p:cNvPr>
          <p:cNvGrpSpPr/>
          <p:nvPr/>
        </p:nvGrpSpPr>
        <p:grpSpPr>
          <a:xfrm>
            <a:off x="1504154" y="2621081"/>
            <a:ext cx="4447080" cy="3224523"/>
            <a:chOff x="1351754" y="2155055"/>
            <a:chExt cx="4447080" cy="3546975"/>
          </a:xfrm>
        </p:grpSpPr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763631E3-C984-8722-C7EB-B2FB412000A6}"/>
                </a:ext>
              </a:extLst>
            </p:cNvPr>
            <p:cNvGrpSpPr/>
            <p:nvPr/>
          </p:nvGrpSpPr>
          <p:grpSpPr>
            <a:xfrm>
              <a:off x="3818729" y="2155055"/>
              <a:ext cx="1980105" cy="3133214"/>
              <a:chOff x="3818729" y="2155055"/>
              <a:chExt cx="1980105" cy="3133214"/>
            </a:xfrm>
          </p:grpSpPr>
          <p:sp>
            <p:nvSpPr>
              <p:cNvPr id="59" name="Rectangle : coins arrondis 58">
                <a:extLst>
                  <a:ext uri="{FF2B5EF4-FFF2-40B4-BE49-F238E27FC236}">
                    <a16:creationId xmlns:a16="http://schemas.microsoft.com/office/drawing/2014/main" id="{FFD4738E-2195-793E-1919-9D94B9443B98}"/>
                  </a:ext>
                </a:extLst>
              </p:cNvPr>
              <p:cNvSpPr/>
              <p:nvPr/>
            </p:nvSpPr>
            <p:spPr>
              <a:xfrm>
                <a:off x="3818729" y="2251631"/>
                <a:ext cx="1849516" cy="3036638"/>
              </a:xfrm>
              <a:prstGeom prst="roundRect">
                <a:avLst>
                  <a:gd name="adj" fmla="val 7125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270000" sx="93000" sy="93000" algn="ctr" rotWithShape="0">
                  <a:prstClr val="black">
                    <a:alpha val="13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400" b="1" dirty="0">
                  <a:solidFill>
                    <a:schemeClr val="tx1"/>
                  </a:solidFill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48" name="Rectangle : coins arrondis 47">
                <a:extLst>
                  <a:ext uri="{FF2B5EF4-FFF2-40B4-BE49-F238E27FC236}">
                    <a16:creationId xmlns:a16="http://schemas.microsoft.com/office/drawing/2014/main" id="{82CD745E-E404-FEE7-B350-6BE8800B9B7C}"/>
                  </a:ext>
                </a:extLst>
              </p:cNvPr>
              <p:cNvSpPr/>
              <p:nvPr/>
            </p:nvSpPr>
            <p:spPr>
              <a:xfrm>
                <a:off x="3949318" y="2155055"/>
                <a:ext cx="1849516" cy="3036638"/>
              </a:xfrm>
              <a:prstGeom prst="roundRect">
                <a:avLst>
                  <a:gd name="adj" fmla="val 7125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270000" sx="93000" sy="93000" algn="ctr" rotWithShape="0">
                  <a:prstClr val="black">
                    <a:alpha val="13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400" b="1" dirty="0">
                  <a:solidFill>
                    <a:schemeClr val="tx1"/>
                  </a:solidFill>
                  <a:latin typeface="Avenir Next LT Pro" panose="020B0504020202020204" pitchFamily="34" charset="0"/>
                </a:endParaRPr>
              </a:p>
            </p:txBody>
          </p:sp>
        </p:grpSp>
        <p:sp>
          <p:nvSpPr>
            <p:cNvPr id="49" name="Espace réservé du texte 3">
              <a:extLst>
                <a:ext uri="{FF2B5EF4-FFF2-40B4-BE49-F238E27FC236}">
                  <a16:creationId xmlns:a16="http://schemas.microsoft.com/office/drawing/2014/main" id="{23B4606E-DE3F-D588-A7CB-494031411D47}"/>
                </a:ext>
              </a:extLst>
            </p:cNvPr>
            <p:cNvSpPr txBox="1">
              <a:spLocks/>
            </p:cNvSpPr>
            <p:nvPr/>
          </p:nvSpPr>
          <p:spPr>
            <a:xfrm>
              <a:off x="3972191" y="2535804"/>
              <a:ext cx="1803771" cy="542584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dirty="0">
                  <a:solidFill>
                    <a:srgbClr val="1D1E3E"/>
                  </a:solidFill>
                  <a:latin typeface="Fira Sans Light" panose="020B0403050000020004" pitchFamily="34" charset="0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1800" b="1" dirty="0">
                  <a:solidFill>
                    <a:schemeClr val="tx2"/>
                  </a:solidFill>
                  <a:latin typeface="Avenir Next LT Pro" panose="020B0504020202020204" pitchFamily="34" charset="0"/>
                </a:rPr>
                <a:t>XX md€</a:t>
              </a:r>
            </a:p>
            <a:p>
              <a:pPr algn="ctr"/>
              <a:r>
                <a:rPr lang="fr-FR" dirty="0">
                  <a:latin typeface="Avenir Next LT Pro" panose="020B0504020202020204" pitchFamily="34" charset="0"/>
                </a:rPr>
                <a:t>[nom marché]</a:t>
              </a:r>
            </a:p>
          </p:txBody>
        </p:sp>
        <p:sp>
          <p:nvSpPr>
            <p:cNvPr id="50" name="Espace réservé du texte 3">
              <a:extLst>
                <a:ext uri="{FF2B5EF4-FFF2-40B4-BE49-F238E27FC236}">
                  <a16:creationId xmlns:a16="http://schemas.microsoft.com/office/drawing/2014/main" id="{2B5A5B8B-8F50-469F-D7D9-6D0A7E3970D9}"/>
                </a:ext>
              </a:extLst>
            </p:cNvPr>
            <p:cNvSpPr txBox="1">
              <a:spLocks/>
            </p:cNvSpPr>
            <p:nvPr/>
          </p:nvSpPr>
          <p:spPr>
            <a:xfrm>
              <a:off x="4012104" y="5418706"/>
              <a:ext cx="1723944" cy="283324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dirty="0">
                  <a:solidFill>
                    <a:srgbClr val="1D1E3E"/>
                  </a:solidFill>
                  <a:latin typeface="Fira Sans Light" panose="020B0403050000020004" pitchFamily="34" charset="0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1600" b="1" dirty="0">
                  <a:solidFill>
                    <a:srgbClr val="231F20"/>
                  </a:solidFill>
                  <a:latin typeface="Avenir Next LT Pro" panose="020B0504020202020204" pitchFamily="34" charset="0"/>
                </a:rPr>
                <a:t>2026</a:t>
              </a:r>
              <a:endParaRPr lang="fr-FR" b="1" dirty="0">
                <a:solidFill>
                  <a:srgbClr val="231F20"/>
                </a:solidFill>
                <a:latin typeface="Avenir Next LT Pro" panose="020B0504020202020204" pitchFamily="34" charset="0"/>
              </a:endParaRPr>
            </a:p>
          </p:txBody>
        </p:sp>
        <p:grpSp>
          <p:nvGrpSpPr>
            <p:cNvPr id="61" name="Groupe 60">
              <a:extLst>
                <a:ext uri="{FF2B5EF4-FFF2-40B4-BE49-F238E27FC236}">
                  <a16:creationId xmlns:a16="http://schemas.microsoft.com/office/drawing/2014/main" id="{3B72002F-BECE-C162-BA4D-110F954E261B}"/>
                </a:ext>
              </a:extLst>
            </p:cNvPr>
            <p:cNvGrpSpPr/>
            <p:nvPr/>
          </p:nvGrpSpPr>
          <p:grpSpPr>
            <a:xfrm>
              <a:off x="1351754" y="3164955"/>
              <a:ext cx="1980105" cy="2123314"/>
              <a:chOff x="3818729" y="3164955"/>
              <a:chExt cx="1980105" cy="2123314"/>
            </a:xfrm>
          </p:grpSpPr>
          <p:sp>
            <p:nvSpPr>
              <p:cNvPr id="62" name="Rectangle : coins arrondis 61">
                <a:extLst>
                  <a:ext uri="{FF2B5EF4-FFF2-40B4-BE49-F238E27FC236}">
                    <a16:creationId xmlns:a16="http://schemas.microsoft.com/office/drawing/2014/main" id="{09A980BE-E920-EAC4-8DBA-B42E17FD9132}"/>
                  </a:ext>
                </a:extLst>
              </p:cNvPr>
              <p:cNvSpPr/>
              <p:nvPr/>
            </p:nvSpPr>
            <p:spPr>
              <a:xfrm>
                <a:off x="3818729" y="3261531"/>
                <a:ext cx="1849516" cy="2026738"/>
              </a:xfrm>
              <a:prstGeom prst="roundRect">
                <a:avLst>
                  <a:gd name="adj" fmla="val 7125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270000" sx="93000" sy="93000" algn="ctr" rotWithShape="0">
                  <a:prstClr val="black">
                    <a:alpha val="13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400" b="1" dirty="0">
                  <a:solidFill>
                    <a:schemeClr val="tx1"/>
                  </a:solidFill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63" name="Rectangle : coins arrondis 62">
                <a:extLst>
                  <a:ext uri="{FF2B5EF4-FFF2-40B4-BE49-F238E27FC236}">
                    <a16:creationId xmlns:a16="http://schemas.microsoft.com/office/drawing/2014/main" id="{3266D087-CCE5-1159-E445-31E640E74D1D}"/>
                  </a:ext>
                </a:extLst>
              </p:cNvPr>
              <p:cNvSpPr/>
              <p:nvPr/>
            </p:nvSpPr>
            <p:spPr>
              <a:xfrm>
                <a:off x="3949318" y="3164955"/>
                <a:ext cx="1849516" cy="2026737"/>
              </a:xfrm>
              <a:prstGeom prst="roundRect">
                <a:avLst>
                  <a:gd name="adj" fmla="val 7125"/>
                </a:avLst>
              </a:prstGeom>
              <a:solidFill>
                <a:schemeClr val="tx1"/>
              </a:solidFill>
              <a:ln>
                <a:noFill/>
              </a:ln>
              <a:effectLst>
                <a:outerShdw blurRad="1270000" sx="93000" sy="93000" algn="ctr" rotWithShape="0">
                  <a:prstClr val="black">
                    <a:alpha val="13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400" b="1" dirty="0">
                  <a:solidFill>
                    <a:schemeClr val="tx1"/>
                  </a:solidFill>
                  <a:latin typeface="Avenir Next LT Pro" panose="020B0504020202020204" pitchFamily="34" charset="0"/>
                </a:endParaRPr>
              </a:p>
            </p:txBody>
          </p:sp>
        </p:grpSp>
        <p:sp>
          <p:nvSpPr>
            <p:cNvPr id="64" name="Espace réservé du texte 3">
              <a:extLst>
                <a:ext uri="{FF2B5EF4-FFF2-40B4-BE49-F238E27FC236}">
                  <a16:creationId xmlns:a16="http://schemas.microsoft.com/office/drawing/2014/main" id="{4BEB1017-9787-68B6-586D-40649A18E91D}"/>
                </a:ext>
              </a:extLst>
            </p:cNvPr>
            <p:cNvSpPr txBox="1">
              <a:spLocks/>
            </p:cNvSpPr>
            <p:nvPr/>
          </p:nvSpPr>
          <p:spPr>
            <a:xfrm>
              <a:off x="1505216" y="3535929"/>
              <a:ext cx="1803771" cy="542584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dirty="0">
                  <a:solidFill>
                    <a:srgbClr val="1D1E3E"/>
                  </a:solidFill>
                  <a:latin typeface="Fira Sans Light" panose="020B0403050000020004" pitchFamily="34" charset="0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1800" b="1" dirty="0">
                  <a:solidFill>
                    <a:schemeClr val="tx2"/>
                  </a:solidFill>
                  <a:latin typeface="Avenir Next LT Pro" panose="020B0504020202020204" pitchFamily="34" charset="0"/>
                </a:rPr>
                <a:t>XX md€</a:t>
              </a:r>
            </a:p>
            <a:p>
              <a:pPr algn="ctr"/>
              <a:r>
                <a:rPr lang="fr-FR" dirty="0">
                  <a:latin typeface="Avenir Next LT Pro" panose="020B0504020202020204" pitchFamily="34" charset="0"/>
                </a:rPr>
                <a:t>[nom marché]</a:t>
              </a:r>
            </a:p>
          </p:txBody>
        </p:sp>
        <p:sp>
          <p:nvSpPr>
            <p:cNvPr id="65" name="Espace réservé du texte 3">
              <a:extLst>
                <a:ext uri="{FF2B5EF4-FFF2-40B4-BE49-F238E27FC236}">
                  <a16:creationId xmlns:a16="http://schemas.microsoft.com/office/drawing/2014/main" id="{30AC0125-9DDE-002D-E599-B2E119620401}"/>
                </a:ext>
              </a:extLst>
            </p:cNvPr>
            <p:cNvSpPr txBox="1">
              <a:spLocks/>
            </p:cNvSpPr>
            <p:nvPr/>
          </p:nvSpPr>
          <p:spPr>
            <a:xfrm>
              <a:off x="1545129" y="5418706"/>
              <a:ext cx="1723944" cy="283324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dirty="0">
                  <a:solidFill>
                    <a:srgbClr val="1D1E3E"/>
                  </a:solidFill>
                  <a:latin typeface="Fira Sans Light" panose="020B0403050000020004" pitchFamily="34" charset="0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1600" b="1" dirty="0">
                  <a:solidFill>
                    <a:srgbClr val="231F20"/>
                  </a:solidFill>
                  <a:latin typeface="Avenir Next LT Pro" panose="020B0504020202020204" pitchFamily="34" charset="0"/>
                </a:rPr>
                <a:t>2023</a:t>
              </a:r>
              <a:endParaRPr lang="fr-FR" b="1" dirty="0">
                <a:solidFill>
                  <a:srgbClr val="231F20"/>
                </a:solidFill>
                <a:latin typeface="Avenir Next LT Pro" panose="020B0504020202020204" pitchFamily="34" charset="0"/>
              </a:endParaRPr>
            </a:p>
          </p:txBody>
        </p:sp>
      </p:grpSp>
      <p:sp>
        <p:nvSpPr>
          <p:cNvPr id="67" name="Google Shape;495;p104">
            <a:extLst>
              <a:ext uri="{FF2B5EF4-FFF2-40B4-BE49-F238E27FC236}">
                <a16:creationId xmlns:a16="http://schemas.microsoft.com/office/drawing/2014/main" id="{48E73982-E7EA-0822-52A7-6A3ACEA04219}"/>
              </a:ext>
            </a:extLst>
          </p:cNvPr>
          <p:cNvSpPr/>
          <p:nvPr/>
        </p:nvSpPr>
        <p:spPr>
          <a:xfrm>
            <a:off x="2438437" y="1739911"/>
            <a:ext cx="2764554" cy="335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3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dirty="0">
                <a:solidFill>
                  <a:srgbClr val="231F20"/>
                </a:solidFill>
                <a:latin typeface="Avenir Next LT Pro" panose="020B05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Fira Sans"/>
              </a:rPr>
              <a:t>DYNAMIQUE DE MARCHÉ</a:t>
            </a: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venir Next LT Pro" panose="020B05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Fira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219955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1B9837-3FBA-739F-A91E-B232D69B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Fonctionnalités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EB4A4-030D-EB75-1C04-6CD6A2F13A1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fr-FR" dirty="0"/>
              <a:t>[sous-titre]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9D358E4-E92C-E8BF-511D-3DE623BCA2A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prstGeom prst="rect">
            <a:avLst/>
          </a:prstGeom>
        </p:spPr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latin typeface="Montserrat" panose="00000500000000000000" pitchFamily="2" charset="0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3</a:t>
            </a:fld>
            <a:endParaRPr lang="fr-FR" kern="0" dirty="0">
              <a:latin typeface="Montserrat" panose="00000500000000000000" pitchFamily="2" charset="0"/>
              <a:cs typeface="Arial"/>
              <a:sym typeface="Arial"/>
            </a:endParaRPr>
          </a:p>
        </p:txBody>
      </p:sp>
      <p:pic>
        <p:nvPicPr>
          <p:cNvPr id="4" name="Image 3" descr="Une image contenant Appareils électroniques, texte, ordinateur, multimédia&#10;&#10;Description générée automatiquement">
            <a:extLst>
              <a:ext uri="{FF2B5EF4-FFF2-40B4-BE49-F238E27FC236}">
                <a16:creationId xmlns:a16="http://schemas.microsoft.com/office/drawing/2014/main" id="{EB0687D9-1D8C-4C52-D57D-B3D4833FA8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"/>
          <a:stretch/>
        </p:blipFill>
        <p:spPr>
          <a:xfrm>
            <a:off x="872512" y="1787633"/>
            <a:ext cx="7034467" cy="4258277"/>
          </a:xfrm>
          <a:prstGeom prst="rect">
            <a:avLst/>
          </a:prstGeom>
        </p:spPr>
      </p:pic>
      <p:grpSp>
        <p:nvGrpSpPr>
          <p:cNvPr id="22" name="Groupe 21">
            <a:extLst>
              <a:ext uri="{FF2B5EF4-FFF2-40B4-BE49-F238E27FC236}">
                <a16:creationId xmlns:a16="http://schemas.microsoft.com/office/drawing/2014/main" id="{8D9CE0B6-817A-DB46-6EE6-86764A1A3AA5}"/>
              </a:ext>
            </a:extLst>
          </p:cNvPr>
          <p:cNvGrpSpPr/>
          <p:nvPr/>
        </p:nvGrpSpPr>
        <p:grpSpPr>
          <a:xfrm>
            <a:off x="6140880" y="2104815"/>
            <a:ext cx="3532197" cy="985741"/>
            <a:chOff x="1132167" y="2603640"/>
            <a:chExt cx="3532197" cy="985741"/>
          </a:xfrm>
        </p:grpSpPr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6C1800F3-4D11-A8E7-EF02-4B74D342DADC}"/>
                </a:ext>
              </a:extLst>
            </p:cNvPr>
            <p:cNvSpPr/>
            <p:nvPr/>
          </p:nvSpPr>
          <p:spPr>
            <a:xfrm>
              <a:off x="1132167" y="2603640"/>
              <a:ext cx="3532197" cy="985741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grpSp>
          <p:nvGrpSpPr>
            <p:cNvPr id="45" name="Groupe 44">
              <a:extLst>
                <a:ext uri="{FF2B5EF4-FFF2-40B4-BE49-F238E27FC236}">
                  <a16:creationId xmlns:a16="http://schemas.microsoft.com/office/drawing/2014/main" id="{C3BBDC8C-947F-2910-4060-A625F0238734}"/>
                </a:ext>
              </a:extLst>
            </p:cNvPr>
            <p:cNvGrpSpPr/>
            <p:nvPr/>
          </p:nvGrpSpPr>
          <p:grpSpPr>
            <a:xfrm>
              <a:off x="1324056" y="2774129"/>
              <a:ext cx="3210237" cy="644762"/>
              <a:chOff x="6379462" y="2338115"/>
              <a:chExt cx="3210237" cy="644762"/>
            </a:xfrm>
          </p:grpSpPr>
          <p:sp>
            <p:nvSpPr>
              <p:cNvPr id="14" name="Google Shape;260;p23">
                <a:extLst>
                  <a:ext uri="{FF2B5EF4-FFF2-40B4-BE49-F238E27FC236}">
                    <a16:creationId xmlns:a16="http://schemas.microsoft.com/office/drawing/2014/main" id="{ED70CD6D-A32E-A5AC-966C-408EB5A1C4C0}"/>
                  </a:ext>
                </a:extLst>
              </p:cNvPr>
              <p:cNvSpPr txBox="1"/>
              <p:nvPr/>
            </p:nvSpPr>
            <p:spPr>
              <a:xfrm>
                <a:off x="6651251" y="2338115"/>
                <a:ext cx="2938448" cy="644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>
                  <a:lnSpc>
                    <a:spcPct val="115000"/>
                  </a:lnSpc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fr" sz="1400" b="1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"/>
                    <a:cs typeface="Lexend Deca"/>
                    <a:sym typeface="Lexend Deca"/>
                  </a:rPr>
                  <a:t>Fonctionnalité 1</a:t>
                </a:r>
              </a:p>
              <a:p>
                <a:pPr>
                  <a:lnSpc>
                    <a:spcPct val="115000"/>
                  </a:lnSpc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fr" sz="1200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sym typeface="Lexend Deca"/>
                  </a:rPr>
                  <a:t>Descritpion courte en 1 à 2 lignes</a:t>
                </a:r>
                <a:endParaRPr sz="1200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 Light"/>
                </a:endParaRPr>
              </a:p>
            </p:txBody>
          </p:sp>
          <p:pic>
            <p:nvPicPr>
              <p:cNvPr id="18" name="Graphique 17">
                <a:extLst>
                  <a:ext uri="{FF2B5EF4-FFF2-40B4-BE49-F238E27FC236}">
                    <a16:creationId xmlns:a16="http://schemas.microsoft.com/office/drawing/2014/main" id="{04B1D0BF-2DA7-3518-D1B4-FF595E280C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b="18549"/>
              <a:stretch/>
            </p:blipFill>
            <p:spPr>
              <a:xfrm>
                <a:off x="6379462" y="2561445"/>
                <a:ext cx="243214" cy="198101"/>
              </a:xfrm>
              <a:prstGeom prst="rect">
                <a:avLst/>
              </a:prstGeom>
            </p:spPr>
          </p:pic>
        </p:grp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59D0F4B0-9C25-6B3D-492E-A70E90429012}"/>
              </a:ext>
            </a:extLst>
          </p:cNvPr>
          <p:cNvGrpSpPr/>
          <p:nvPr/>
        </p:nvGrpSpPr>
        <p:grpSpPr>
          <a:xfrm>
            <a:off x="6575983" y="3275038"/>
            <a:ext cx="3532197" cy="985741"/>
            <a:chOff x="1132167" y="2603640"/>
            <a:chExt cx="3532197" cy="985741"/>
          </a:xfrm>
        </p:grpSpPr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E8BB9D14-E80B-A308-0231-C1AE9E2443F5}"/>
                </a:ext>
              </a:extLst>
            </p:cNvPr>
            <p:cNvSpPr/>
            <p:nvPr/>
          </p:nvSpPr>
          <p:spPr>
            <a:xfrm>
              <a:off x="1132167" y="2603640"/>
              <a:ext cx="3532197" cy="985741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grpSp>
          <p:nvGrpSpPr>
            <p:cNvPr id="69" name="Groupe 68">
              <a:extLst>
                <a:ext uri="{FF2B5EF4-FFF2-40B4-BE49-F238E27FC236}">
                  <a16:creationId xmlns:a16="http://schemas.microsoft.com/office/drawing/2014/main" id="{D2F43507-9279-08BC-AD0E-6418E33BF593}"/>
                </a:ext>
              </a:extLst>
            </p:cNvPr>
            <p:cNvGrpSpPr/>
            <p:nvPr/>
          </p:nvGrpSpPr>
          <p:grpSpPr>
            <a:xfrm>
              <a:off x="1324056" y="2774129"/>
              <a:ext cx="3210237" cy="644762"/>
              <a:chOff x="6379462" y="2338115"/>
              <a:chExt cx="3210237" cy="644762"/>
            </a:xfrm>
          </p:grpSpPr>
          <p:sp>
            <p:nvSpPr>
              <p:cNvPr id="70" name="Google Shape;260;p23">
                <a:extLst>
                  <a:ext uri="{FF2B5EF4-FFF2-40B4-BE49-F238E27FC236}">
                    <a16:creationId xmlns:a16="http://schemas.microsoft.com/office/drawing/2014/main" id="{697830B0-0D9A-BCBC-CA0E-F86BF4B40DE4}"/>
                  </a:ext>
                </a:extLst>
              </p:cNvPr>
              <p:cNvSpPr txBox="1"/>
              <p:nvPr/>
            </p:nvSpPr>
            <p:spPr>
              <a:xfrm>
                <a:off x="6651251" y="2338115"/>
                <a:ext cx="2938448" cy="644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>
                  <a:lnSpc>
                    <a:spcPct val="115000"/>
                  </a:lnSpc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fr" sz="1400" b="1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"/>
                    <a:cs typeface="Lexend Deca"/>
                    <a:sym typeface="Lexend Deca"/>
                  </a:rPr>
                  <a:t>Fonctionnalité 2</a:t>
                </a:r>
              </a:p>
              <a:p>
                <a:pPr>
                  <a:lnSpc>
                    <a:spcPct val="115000"/>
                  </a:lnSpc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fr" sz="1200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sym typeface="Lexend Deca"/>
                  </a:rPr>
                  <a:t>Descritpion courte en 1 à 2 lignes</a:t>
                </a:r>
                <a:endParaRPr sz="1200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 Light"/>
                </a:endParaRPr>
              </a:p>
            </p:txBody>
          </p:sp>
          <p:pic>
            <p:nvPicPr>
              <p:cNvPr id="71" name="Graphique 70">
                <a:extLst>
                  <a:ext uri="{FF2B5EF4-FFF2-40B4-BE49-F238E27FC236}">
                    <a16:creationId xmlns:a16="http://schemas.microsoft.com/office/drawing/2014/main" id="{06D7180F-7054-BEA2-9BD3-23B2FBEC4A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b="18549"/>
              <a:stretch/>
            </p:blipFill>
            <p:spPr>
              <a:xfrm>
                <a:off x="6379462" y="2561445"/>
                <a:ext cx="243214" cy="198101"/>
              </a:xfrm>
              <a:prstGeom prst="rect">
                <a:avLst/>
              </a:prstGeom>
            </p:spPr>
          </p:pic>
        </p:grpSp>
      </p:grp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34DBA6E4-F306-FC95-F46A-54EC32E2A0F2}"/>
              </a:ext>
            </a:extLst>
          </p:cNvPr>
          <p:cNvGrpSpPr/>
          <p:nvPr/>
        </p:nvGrpSpPr>
        <p:grpSpPr>
          <a:xfrm>
            <a:off x="7011086" y="4445261"/>
            <a:ext cx="3532197" cy="985741"/>
            <a:chOff x="1132167" y="2603640"/>
            <a:chExt cx="3532197" cy="985741"/>
          </a:xfrm>
        </p:grpSpPr>
        <p:sp>
          <p:nvSpPr>
            <p:cNvPr id="73" name="Rectangle : coins arrondis 72">
              <a:extLst>
                <a:ext uri="{FF2B5EF4-FFF2-40B4-BE49-F238E27FC236}">
                  <a16:creationId xmlns:a16="http://schemas.microsoft.com/office/drawing/2014/main" id="{6826925C-D1B2-9134-626F-CDFD9CE5DA50}"/>
                </a:ext>
              </a:extLst>
            </p:cNvPr>
            <p:cNvSpPr/>
            <p:nvPr/>
          </p:nvSpPr>
          <p:spPr>
            <a:xfrm>
              <a:off x="1132167" y="2603640"/>
              <a:ext cx="3532197" cy="985741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grpSp>
          <p:nvGrpSpPr>
            <p:cNvPr id="74" name="Groupe 73">
              <a:extLst>
                <a:ext uri="{FF2B5EF4-FFF2-40B4-BE49-F238E27FC236}">
                  <a16:creationId xmlns:a16="http://schemas.microsoft.com/office/drawing/2014/main" id="{99227700-DFDD-5DB3-0CE9-241E08285755}"/>
                </a:ext>
              </a:extLst>
            </p:cNvPr>
            <p:cNvGrpSpPr/>
            <p:nvPr/>
          </p:nvGrpSpPr>
          <p:grpSpPr>
            <a:xfrm>
              <a:off x="1324056" y="2774129"/>
              <a:ext cx="3210237" cy="644762"/>
              <a:chOff x="6379462" y="2338115"/>
              <a:chExt cx="3210237" cy="644762"/>
            </a:xfrm>
          </p:grpSpPr>
          <p:sp>
            <p:nvSpPr>
              <p:cNvPr id="75" name="Google Shape;260;p23">
                <a:extLst>
                  <a:ext uri="{FF2B5EF4-FFF2-40B4-BE49-F238E27FC236}">
                    <a16:creationId xmlns:a16="http://schemas.microsoft.com/office/drawing/2014/main" id="{14320175-10F6-A8C1-83AC-62E31CC5929C}"/>
                  </a:ext>
                </a:extLst>
              </p:cNvPr>
              <p:cNvSpPr txBox="1"/>
              <p:nvPr/>
            </p:nvSpPr>
            <p:spPr>
              <a:xfrm>
                <a:off x="6651251" y="2338115"/>
                <a:ext cx="2938448" cy="644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>
                  <a:lnSpc>
                    <a:spcPct val="115000"/>
                  </a:lnSpc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fr" sz="1400" b="1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"/>
                    <a:cs typeface="Lexend Deca"/>
                    <a:sym typeface="Lexend Deca"/>
                  </a:rPr>
                  <a:t>Fonctionnalité 3</a:t>
                </a:r>
              </a:p>
              <a:p>
                <a:pPr>
                  <a:lnSpc>
                    <a:spcPct val="115000"/>
                  </a:lnSpc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fr" sz="1200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sym typeface="Lexend Deca"/>
                  </a:rPr>
                  <a:t>Descritpion courte en 1 à 2 lignes</a:t>
                </a:r>
                <a:endParaRPr sz="1200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 Light"/>
                </a:endParaRPr>
              </a:p>
            </p:txBody>
          </p:sp>
          <p:pic>
            <p:nvPicPr>
              <p:cNvPr id="76" name="Graphique 75">
                <a:extLst>
                  <a:ext uri="{FF2B5EF4-FFF2-40B4-BE49-F238E27FC236}">
                    <a16:creationId xmlns:a16="http://schemas.microsoft.com/office/drawing/2014/main" id="{8FDF2CE9-73ED-D128-409A-AB1EF8E2D0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b="18549"/>
              <a:stretch/>
            </p:blipFill>
            <p:spPr>
              <a:xfrm>
                <a:off x="6379462" y="2561445"/>
                <a:ext cx="243214" cy="198101"/>
              </a:xfrm>
              <a:prstGeom prst="rect">
                <a:avLst/>
              </a:prstGeom>
            </p:spPr>
          </p:pic>
        </p:grpSp>
      </p:grpSp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C73D39A5-DAF4-19FE-70A4-43D057F54F07}"/>
              </a:ext>
            </a:extLst>
          </p:cNvPr>
          <p:cNvSpPr/>
          <p:nvPr/>
        </p:nvSpPr>
        <p:spPr>
          <a:xfrm>
            <a:off x="8618546" y="5638477"/>
            <a:ext cx="2193216" cy="459855"/>
          </a:xfrm>
          <a:prstGeom prst="roundRect">
            <a:avLst>
              <a:gd name="adj" fmla="val 9877"/>
            </a:avLst>
          </a:prstGeom>
          <a:solidFill>
            <a:schemeClr val="tx2"/>
          </a:solidFill>
          <a:ln>
            <a:noFill/>
          </a:ln>
          <a:effectLst>
            <a:outerShdw blurRad="1270000" sx="92000" sy="9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fr-FR" sz="1100" b="1" dirty="0">
                <a:solidFill>
                  <a:schemeClr val="bg2"/>
                </a:solidFill>
                <a:latin typeface="Avenir Next LT Pro" panose="020B0504020202020204" pitchFamily="34" charset="77"/>
              </a:rPr>
              <a:t>VIDÉO DÉMO</a:t>
            </a:r>
          </a:p>
        </p:txBody>
      </p:sp>
      <p:sp>
        <p:nvSpPr>
          <p:cNvPr id="78" name="Espace réservé du numéro de diapositive 2">
            <a:extLst>
              <a:ext uri="{FF2B5EF4-FFF2-40B4-BE49-F238E27FC236}">
                <a16:creationId xmlns:a16="http://schemas.microsoft.com/office/drawing/2014/main" id="{C8BAE099-041B-00F5-2870-062A4C5B7BC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90958" y="6313331"/>
            <a:ext cx="538479" cy="367401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rgbClr val="231F20"/>
                </a:solidFill>
                <a:latin typeface="Avenir Next LT Pro" panose="020B0504020202020204" pitchFamily="34" charset="0"/>
              </a:defRPr>
            </a:lvl1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3</a:t>
            </a:fld>
            <a:endParaRPr lang="fr-FR" kern="0" dirty="0"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362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39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2A498734-453B-631A-1A71-1C48034632D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2">
                <a:lumMod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855" y="1976980"/>
            <a:ext cx="8470014" cy="1859128"/>
          </a:xfrm>
          <a:prstGeom prst="rect">
            <a:avLst/>
          </a:prstGeom>
        </p:spPr>
      </p:pic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17529BBF-2782-61BB-CE4A-47187880C088}"/>
              </a:ext>
            </a:extLst>
          </p:cNvPr>
          <p:cNvCxnSpPr/>
          <p:nvPr/>
        </p:nvCxnSpPr>
        <p:spPr>
          <a:xfrm>
            <a:off x="2297723" y="4138568"/>
            <a:ext cx="759655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281B9837-3FBA-739F-A91E-B232D69B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Business model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EB4A4-030D-EB75-1C04-6CD6A2F13A1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fr-FR" dirty="0"/>
              <a:t>[sous-titre]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9D358E4-E92C-E8BF-511D-3DE623BCA2A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prstGeom prst="rect">
            <a:avLst/>
          </a:prstGeom>
        </p:spPr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latin typeface="Montserrat" panose="00000500000000000000" pitchFamily="2" charset="0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4</a:t>
            </a:fld>
            <a:endParaRPr lang="fr-FR" kern="0" dirty="0">
              <a:latin typeface="Montserrat" panose="00000500000000000000" pitchFamily="2" charset="0"/>
              <a:cs typeface="Arial"/>
              <a:sym typeface="Arial"/>
            </a:endParaRP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D5798258-6936-E2E1-4ABC-FC8D11CC56BA}"/>
              </a:ext>
            </a:extLst>
          </p:cNvPr>
          <p:cNvGrpSpPr/>
          <p:nvPr/>
        </p:nvGrpSpPr>
        <p:grpSpPr>
          <a:xfrm>
            <a:off x="1089887" y="2863867"/>
            <a:ext cx="2950078" cy="2542431"/>
            <a:chOff x="1089887" y="2863867"/>
            <a:chExt cx="2950078" cy="2542431"/>
          </a:xfrm>
        </p:grpSpPr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4788C6D6-62A7-6C9F-ECB7-35A48C41A7BB}"/>
                </a:ext>
              </a:extLst>
            </p:cNvPr>
            <p:cNvSpPr/>
            <p:nvPr/>
          </p:nvSpPr>
          <p:spPr>
            <a:xfrm>
              <a:off x="1120794" y="2863867"/>
              <a:ext cx="2919171" cy="2331771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sp>
          <p:nvSpPr>
            <p:cNvPr id="8" name="Google Shape;184;p19">
              <a:extLst>
                <a:ext uri="{FF2B5EF4-FFF2-40B4-BE49-F238E27FC236}">
                  <a16:creationId xmlns:a16="http://schemas.microsoft.com/office/drawing/2014/main" id="{291C5BD0-1FA9-67F6-2EC0-82E164A80BD0}"/>
                </a:ext>
              </a:extLst>
            </p:cNvPr>
            <p:cNvSpPr txBox="1"/>
            <p:nvPr/>
          </p:nvSpPr>
          <p:spPr>
            <a:xfrm>
              <a:off x="1376483" y="2970616"/>
              <a:ext cx="2301735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 b="1" dirty="0">
                  <a:solidFill>
                    <a:srgbClr val="231F20"/>
                  </a:solidFill>
                  <a:latin typeface="Avenir Next LT Pro" panose="020B0504020202020204" pitchFamily="34" charset="77"/>
                  <a:ea typeface="Lexend Deca"/>
                  <a:cs typeface="Lexend Deca"/>
                  <a:sym typeface="Lexend Deca"/>
                </a:rPr>
                <a:t>OFFRE 1</a:t>
              </a:r>
            </a:p>
          </p:txBody>
        </p:sp>
        <p:sp>
          <p:nvSpPr>
            <p:cNvPr id="11" name="Google Shape;184;p19">
              <a:extLst>
                <a:ext uri="{FF2B5EF4-FFF2-40B4-BE49-F238E27FC236}">
                  <a16:creationId xmlns:a16="http://schemas.microsoft.com/office/drawing/2014/main" id="{93FC38C1-F38B-86C3-D7F3-797D1EE6C922}"/>
                </a:ext>
              </a:extLst>
            </p:cNvPr>
            <p:cNvSpPr txBox="1"/>
            <p:nvPr/>
          </p:nvSpPr>
          <p:spPr>
            <a:xfrm>
              <a:off x="1089888" y="3574600"/>
              <a:ext cx="2919171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 algn="ctr" rtl="0">
                <a:spcBef>
                  <a:spcPts val="0"/>
                </a:spcBef>
                <a:spcAft>
                  <a:spcPts val="0"/>
                </a:spcAft>
              </a:pPr>
              <a:r>
                <a:rPr lang="fr" sz="1000" dirty="0">
                  <a:solidFill>
                    <a:srgbClr val="231F20"/>
                  </a:solidFill>
                  <a:latin typeface="Avenir Next LT Pro" panose="020B0504020202020204" pitchFamily="34" charset="77"/>
                  <a:ea typeface="Lexend Deca"/>
                  <a:cs typeface="Lexend Deca"/>
                  <a:sym typeface="Lexend Deca"/>
                </a:rPr>
                <a:t>Description 1</a:t>
              </a:r>
            </a:p>
          </p:txBody>
        </p:sp>
        <p:sp>
          <p:nvSpPr>
            <p:cNvPr id="12" name="Google Shape;184;p19">
              <a:extLst>
                <a:ext uri="{FF2B5EF4-FFF2-40B4-BE49-F238E27FC236}">
                  <a16:creationId xmlns:a16="http://schemas.microsoft.com/office/drawing/2014/main" id="{361E8AF3-2F9E-28C5-E1FA-00A2FFE20011}"/>
                </a:ext>
              </a:extLst>
            </p:cNvPr>
            <p:cNvSpPr txBox="1"/>
            <p:nvPr/>
          </p:nvSpPr>
          <p:spPr>
            <a:xfrm>
              <a:off x="1089887" y="4034307"/>
              <a:ext cx="2919172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 algn="ctr" rtl="0">
                <a:spcBef>
                  <a:spcPts val="0"/>
                </a:spcBef>
                <a:spcAft>
                  <a:spcPts val="0"/>
                </a:spcAft>
              </a:pPr>
              <a:r>
                <a:rPr lang="fr" sz="1000" dirty="0">
                  <a:solidFill>
                    <a:srgbClr val="231F20"/>
                  </a:solidFill>
                  <a:latin typeface="Avenir Next LT Pro" panose="020B0504020202020204" pitchFamily="34" charset="77"/>
                  <a:ea typeface="Lexend Deca"/>
                  <a:cs typeface="Lexend Deca"/>
                  <a:sym typeface="Lexend Deca"/>
                </a:rPr>
                <a:t>Description 2</a:t>
              </a:r>
            </a:p>
          </p:txBody>
        </p:sp>
        <p:sp>
          <p:nvSpPr>
            <p:cNvPr id="13" name="Google Shape;184;p19">
              <a:extLst>
                <a:ext uri="{FF2B5EF4-FFF2-40B4-BE49-F238E27FC236}">
                  <a16:creationId xmlns:a16="http://schemas.microsoft.com/office/drawing/2014/main" id="{62C4B320-6612-D9AF-16EA-1E03696AEFC0}"/>
                </a:ext>
              </a:extLst>
            </p:cNvPr>
            <p:cNvSpPr txBox="1"/>
            <p:nvPr/>
          </p:nvSpPr>
          <p:spPr>
            <a:xfrm>
              <a:off x="1089888" y="4447503"/>
              <a:ext cx="2919172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 algn="ctr" rtl="0">
                <a:spcBef>
                  <a:spcPts val="0"/>
                </a:spcBef>
                <a:spcAft>
                  <a:spcPts val="0"/>
                </a:spcAft>
              </a:pPr>
              <a:r>
                <a:rPr lang="fr" sz="1000" dirty="0">
                  <a:solidFill>
                    <a:srgbClr val="231F20"/>
                  </a:solidFill>
                  <a:latin typeface="Avenir Next LT Pro" panose="020B0504020202020204" pitchFamily="34" charset="77"/>
                  <a:ea typeface="Lexend Deca"/>
                  <a:cs typeface="Lexend Deca"/>
                  <a:sym typeface="Lexend Deca"/>
                </a:rPr>
                <a:t>Description 3</a:t>
              </a:r>
            </a:p>
          </p:txBody>
        </p:sp>
        <p:cxnSp>
          <p:nvCxnSpPr>
            <p:cNvPr id="14" name="Google Shape;261;p23">
              <a:extLst>
                <a:ext uri="{FF2B5EF4-FFF2-40B4-BE49-F238E27FC236}">
                  <a16:creationId xmlns:a16="http://schemas.microsoft.com/office/drawing/2014/main" id="{9583866C-C345-0F58-A97E-8C9F9B6C6CDF}"/>
                </a:ext>
              </a:extLst>
            </p:cNvPr>
            <p:cNvCxnSpPr>
              <a:cxnSpLocks/>
            </p:cNvCxnSpPr>
            <p:nvPr/>
          </p:nvCxnSpPr>
          <p:spPr>
            <a:xfrm>
              <a:off x="1578975" y="3966648"/>
              <a:ext cx="1896752" cy="0"/>
            </a:xfrm>
            <a:prstGeom prst="straightConnector1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" name="Google Shape;261;p23">
              <a:extLst>
                <a:ext uri="{FF2B5EF4-FFF2-40B4-BE49-F238E27FC236}">
                  <a16:creationId xmlns:a16="http://schemas.microsoft.com/office/drawing/2014/main" id="{5F49C014-08A5-6B6A-53B7-672D3B777181}"/>
                </a:ext>
              </a:extLst>
            </p:cNvPr>
            <p:cNvCxnSpPr>
              <a:cxnSpLocks/>
            </p:cNvCxnSpPr>
            <p:nvPr/>
          </p:nvCxnSpPr>
          <p:spPr>
            <a:xfrm>
              <a:off x="1578975" y="4434813"/>
              <a:ext cx="1896752" cy="0"/>
            </a:xfrm>
            <a:prstGeom prst="straightConnector1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5A99AA6F-10BE-525D-AF55-BF0ADF8F7D52}"/>
                </a:ext>
              </a:extLst>
            </p:cNvPr>
            <p:cNvSpPr/>
            <p:nvPr/>
          </p:nvSpPr>
          <p:spPr>
            <a:xfrm>
              <a:off x="1621062" y="4988248"/>
              <a:ext cx="1812575" cy="418050"/>
            </a:xfrm>
            <a:prstGeom prst="roundRect">
              <a:avLst>
                <a:gd name="adj" fmla="val 9877"/>
              </a:avLst>
            </a:prstGeom>
            <a:solidFill>
              <a:schemeClr val="tx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fr-FR" sz="1000" b="1" dirty="0">
                  <a:solidFill>
                    <a:schemeClr val="bg2"/>
                  </a:solidFill>
                  <a:latin typeface="Avenir Next LT Pro" panose="020B0504020202020204" pitchFamily="34" charset="77"/>
                </a:rPr>
                <a:t>XX€/mois</a:t>
              </a: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9DD9172C-B1E0-2C03-C47A-DFA2067BC0F8}"/>
              </a:ext>
            </a:extLst>
          </p:cNvPr>
          <p:cNvGrpSpPr/>
          <p:nvPr/>
        </p:nvGrpSpPr>
        <p:grpSpPr>
          <a:xfrm>
            <a:off x="4450401" y="2863867"/>
            <a:ext cx="2950078" cy="2542431"/>
            <a:chOff x="1089887" y="2863867"/>
            <a:chExt cx="2950078" cy="2542431"/>
          </a:xfrm>
        </p:grpSpPr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B3CB18FF-7391-4B1B-20CC-6AC8E61E57FE}"/>
                </a:ext>
              </a:extLst>
            </p:cNvPr>
            <p:cNvSpPr/>
            <p:nvPr/>
          </p:nvSpPr>
          <p:spPr>
            <a:xfrm>
              <a:off x="1120794" y="2863867"/>
              <a:ext cx="2919171" cy="2331771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sp>
          <p:nvSpPr>
            <p:cNvPr id="22" name="Google Shape;184;p19">
              <a:extLst>
                <a:ext uri="{FF2B5EF4-FFF2-40B4-BE49-F238E27FC236}">
                  <a16:creationId xmlns:a16="http://schemas.microsoft.com/office/drawing/2014/main" id="{EEDC334C-2D22-0010-9D03-95FCF6B63027}"/>
                </a:ext>
              </a:extLst>
            </p:cNvPr>
            <p:cNvSpPr txBox="1"/>
            <p:nvPr/>
          </p:nvSpPr>
          <p:spPr>
            <a:xfrm>
              <a:off x="1376483" y="2970616"/>
              <a:ext cx="2301735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 b="1" dirty="0">
                  <a:solidFill>
                    <a:srgbClr val="231F20"/>
                  </a:solidFill>
                  <a:latin typeface="Avenir Next LT Pro" panose="020B0504020202020204" pitchFamily="34" charset="77"/>
                  <a:ea typeface="Lexend Deca"/>
                  <a:cs typeface="Lexend Deca"/>
                  <a:sym typeface="Lexend Deca"/>
                </a:rPr>
                <a:t>OFFRE 2</a:t>
              </a:r>
            </a:p>
          </p:txBody>
        </p:sp>
        <p:sp>
          <p:nvSpPr>
            <p:cNvPr id="23" name="Google Shape;184;p19">
              <a:extLst>
                <a:ext uri="{FF2B5EF4-FFF2-40B4-BE49-F238E27FC236}">
                  <a16:creationId xmlns:a16="http://schemas.microsoft.com/office/drawing/2014/main" id="{584A760E-C1A7-53E4-5627-7CBCDEB74FE2}"/>
                </a:ext>
              </a:extLst>
            </p:cNvPr>
            <p:cNvSpPr txBox="1"/>
            <p:nvPr/>
          </p:nvSpPr>
          <p:spPr>
            <a:xfrm>
              <a:off x="1089888" y="3574600"/>
              <a:ext cx="2919171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 algn="ctr" rtl="0">
                <a:spcBef>
                  <a:spcPts val="0"/>
                </a:spcBef>
                <a:spcAft>
                  <a:spcPts val="0"/>
                </a:spcAft>
              </a:pPr>
              <a:r>
                <a:rPr lang="fr" sz="1000" dirty="0">
                  <a:solidFill>
                    <a:srgbClr val="231F20"/>
                  </a:solidFill>
                  <a:latin typeface="Avenir Next LT Pro" panose="020B0504020202020204" pitchFamily="34" charset="77"/>
                  <a:ea typeface="Lexend Deca"/>
                  <a:cs typeface="Lexend Deca"/>
                  <a:sym typeface="Lexend Deca"/>
                </a:rPr>
                <a:t>Description 1</a:t>
              </a:r>
            </a:p>
          </p:txBody>
        </p:sp>
        <p:sp>
          <p:nvSpPr>
            <p:cNvPr id="24" name="Google Shape;184;p19">
              <a:extLst>
                <a:ext uri="{FF2B5EF4-FFF2-40B4-BE49-F238E27FC236}">
                  <a16:creationId xmlns:a16="http://schemas.microsoft.com/office/drawing/2014/main" id="{C9FF8DFE-13EB-B92A-D333-459BAAA7C537}"/>
                </a:ext>
              </a:extLst>
            </p:cNvPr>
            <p:cNvSpPr txBox="1"/>
            <p:nvPr/>
          </p:nvSpPr>
          <p:spPr>
            <a:xfrm>
              <a:off x="1089887" y="4034307"/>
              <a:ext cx="2919172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 algn="ctr" rtl="0">
                <a:spcBef>
                  <a:spcPts val="0"/>
                </a:spcBef>
                <a:spcAft>
                  <a:spcPts val="0"/>
                </a:spcAft>
              </a:pPr>
              <a:r>
                <a:rPr lang="fr" sz="1000" dirty="0">
                  <a:solidFill>
                    <a:srgbClr val="231F20"/>
                  </a:solidFill>
                  <a:latin typeface="Avenir Next LT Pro" panose="020B0504020202020204" pitchFamily="34" charset="77"/>
                  <a:ea typeface="Lexend Deca"/>
                  <a:cs typeface="Lexend Deca"/>
                  <a:sym typeface="Lexend Deca"/>
                </a:rPr>
                <a:t>Description 2</a:t>
              </a:r>
            </a:p>
          </p:txBody>
        </p:sp>
        <p:sp>
          <p:nvSpPr>
            <p:cNvPr id="25" name="Google Shape;184;p19">
              <a:extLst>
                <a:ext uri="{FF2B5EF4-FFF2-40B4-BE49-F238E27FC236}">
                  <a16:creationId xmlns:a16="http://schemas.microsoft.com/office/drawing/2014/main" id="{7D66E31D-7637-6452-1912-A4E0C3C839CE}"/>
                </a:ext>
              </a:extLst>
            </p:cNvPr>
            <p:cNvSpPr txBox="1"/>
            <p:nvPr/>
          </p:nvSpPr>
          <p:spPr>
            <a:xfrm>
              <a:off x="1089888" y="4447503"/>
              <a:ext cx="2919172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 algn="ctr" rtl="0">
                <a:spcBef>
                  <a:spcPts val="0"/>
                </a:spcBef>
                <a:spcAft>
                  <a:spcPts val="0"/>
                </a:spcAft>
              </a:pPr>
              <a:r>
                <a:rPr lang="fr" sz="1000" dirty="0">
                  <a:solidFill>
                    <a:srgbClr val="231F20"/>
                  </a:solidFill>
                  <a:latin typeface="Avenir Next LT Pro" panose="020B0504020202020204" pitchFamily="34" charset="77"/>
                  <a:ea typeface="Lexend Deca"/>
                  <a:cs typeface="Lexend Deca"/>
                  <a:sym typeface="Lexend Deca"/>
                </a:rPr>
                <a:t>Description 3</a:t>
              </a:r>
            </a:p>
          </p:txBody>
        </p:sp>
        <p:cxnSp>
          <p:nvCxnSpPr>
            <p:cNvPr id="27" name="Google Shape;261;p23">
              <a:extLst>
                <a:ext uri="{FF2B5EF4-FFF2-40B4-BE49-F238E27FC236}">
                  <a16:creationId xmlns:a16="http://schemas.microsoft.com/office/drawing/2014/main" id="{8FF79058-B04A-E6D7-6C4A-18111F29F9AE}"/>
                </a:ext>
              </a:extLst>
            </p:cNvPr>
            <p:cNvCxnSpPr>
              <a:cxnSpLocks/>
            </p:cNvCxnSpPr>
            <p:nvPr/>
          </p:nvCxnSpPr>
          <p:spPr>
            <a:xfrm>
              <a:off x="1578975" y="3966648"/>
              <a:ext cx="1896752" cy="0"/>
            </a:xfrm>
            <a:prstGeom prst="straightConnector1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" name="Google Shape;261;p23">
              <a:extLst>
                <a:ext uri="{FF2B5EF4-FFF2-40B4-BE49-F238E27FC236}">
                  <a16:creationId xmlns:a16="http://schemas.microsoft.com/office/drawing/2014/main" id="{1B8F5506-4550-59EF-46DD-D5377293A184}"/>
                </a:ext>
              </a:extLst>
            </p:cNvPr>
            <p:cNvCxnSpPr>
              <a:cxnSpLocks/>
            </p:cNvCxnSpPr>
            <p:nvPr/>
          </p:nvCxnSpPr>
          <p:spPr>
            <a:xfrm>
              <a:off x="1578975" y="4434813"/>
              <a:ext cx="1896752" cy="0"/>
            </a:xfrm>
            <a:prstGeom prst="straightConnector1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77405996-FF63-5286-8730-491D349F04BB}"/>
                </a:ext>
              </a:extLst>
            </p:cNvPr>
            <p:cNvSpPr/>
            <p:nvPr/>
          </p:nvSpPr>
          <p:spPr>
            <a:xfrm>
              <a:off x="1621062" y="4988248"/>
              <a:ext cx="1812575" cy="418050"/>
            </a:xfrm>
            <a:prstGeom prst="roundRect">
              <a:avLst>
                <a:gd name="adj" fmla="val 9877"/>
              </a:avLst>
            </a:prstGeom>
            <a:solidFill>
              <a:schemeClr val="tx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fr-FR" sz="1000" b="1" dirty="0">
                  <a:solidFill>
                    <a:schemeClr val="bg2"/>
                  </a:solidFill>
                  <a:latin typeface="Avenir Next LT Pro" panose="020B0504020202020204" pitchFamily="34" charset="77"/>
                </a:rPr>
                <a:t>XX€/mois</a:t>
              </a: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85C81629-C01E-3464-F43D-DF07F6FC4A3C}"/>
              </a:ext>
            </a:extLst>
          </p:cNvPr>
          <p:cNvGrpSpPr/>
          <p:nvPr/>
        </p:nvGrpSpPr>
        <p:grpSpPr>
          <a:xfrm>
            <a:off x="7858660" y="2863867"/>
            <a:ext cx="2950078" cy="2542431"/>
            <a:chOff x="1089887" y="2863867"/>
            <a:chExt cx="2950078" cy="2542431"/>
          </a:xfrm>
        </p:grpSpPr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4A64C0D4-DA79-B91F-ED00-0C301DD40A5F}"/>
                </a:ext>
              </a:extLst>
            </p:cNvPr>
            <p:cNvSpPr/>
            <p:nvPr/>
          </p:nvSpPr>
          <p:spPr>
            <a:xfrm>
              <a:off x="1120794" y="2863867"/>
              <a:ext cx="2919171" cy="2331771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sp>
          <p:nvSpPr>
            <p:cNvPr id="32" name="Google Shape;184;p19">
              <a:extLst>
                <a:ext uri="{FF2B5EF4-FFF2-40B4-BE49-F238E27FC236}">
                  <a16:creationId xmlns:a16="http://schemas.microsoft.com/office/drawing/2014/main" id="{80FDFD2D-2BC9-3A1C-A9E0-9449F7B00F27}"/>
                </a:ext>
              </a:extLst>
            </p:cNvPr>
            <p:cNvSpPr txBox="1"/>
            <p:nvPr/>
          </p:nvSpPr>
          <p:spPr>
            <a:xfrm>
              <a:off x="1376483" y="2970616"/>
              <a:ext cx="2301735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 b="1" dirty="0">
                  <a:solidFill>
                    <a:srgbClr val="231F20"/>
                  </a:solidFill>
                  <a:latin typeface="Avenir Next LT Pro" panose="020B0504020202020204" pitchFamily="34" charset="77"/>
                  <a:ea typeface="Lexend Deca"/>
                  <a:cs typeface="Lexend Deca"/>
                  <a:sym typeface="Lexend Deca"/>
                </a:rPr>
                <a:t>OFFRE 3</a:t>
              </a:r>
            </a:p>
          </p:txBody>
        </p:sp>
        <p:sp>
          <p:nvSpPr>
            <p:cNvPr id="33" name="Google Shape;184;p19">
              <a:extLst>
                <a:ext uri="{FF2B5EF4-FFF2-40B4-BE49-F238E27FC236}">
                  <a16:creationId xmlns:a16="http://schemas.microsoft.com/office/drawing/2014/main" id="{E61CAA5C-2DD1-2F77-606E-260D7DBA8F3E}"/>
                </a:ext>
              </a:extLst>
            </p:cNvPr>
            <p:cNvSpPr txBox="1"/>
            <p:nvPr/>
          </p:nvSpPr>
          <p:spPr>
            <a:xfrm>
              <a:off x="1089888" y="3574600"/>
              <a:ext cx="2919171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 algn="ctr" rtl="0">
                <a:spcBef>
                  <a:spcPts val="0"/>
                </a:spcBef>
                <a:spcAft>
                  <a:spcPts val="0"/>
                </a:spcAft>
              </a:pPr>
              <a:r>
                <a:rPr lang="fr" sz="1000" dirty="0">
                  <a:solidFill>
                    <a:srgbClr val="231F20"/>
                  </a:solidFill>
                  <a:latin typeface="Avenir Next LT Pro" panose="020B0504020202020204" pitchFamily="34" charset="77"/>
                  <a:ea typeface="Lexend Deca"/>
                  <a:cs typeface="Lexend Deca"/>
                  <a:sym typeface="Lexend Deca"/>
                </a:rPr>
                <a:t>Description 1</a:t>
              </a:r>
            </a:p>
          </p:txBody>
        </p:sp>
        <p:sp>
          <p:nvSpPr>
            <p:cNvPr id="34" name="Google Shape;184;p19">
              <a:extLst>
                <a:ext uri="{FF2B5EF4-FFF2-40B4-BE49-F238E27FC236}">
                  <a16:creationId xmlns:a16="http://schemas.microsoft.com/office/drawing/2014/main" id="{C89350B7-67E1-ECE1-939F-F73E9A3885AF}"/>
                </a:ext>
              </a:extLst>
            </p:cNvPr>
            <p:cNvSpPr txBox="1"/>
            <p:nvPr/>
          </p:nvSpPr>
          <p:spPr>
            <a:xfrm>
              <a:off x="1089887" y="4034307"/>
              <a:ext cx="2919172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 algn="ctr" rtl="0">
                <a:spcBef>
                  <a:spcPts val="0"/>
                </a:spcBef>
                <a:spcAft>
                  <a:spcPts val="0"/>
                </a:spcAft>
              </a:pPr>
              <a:r>
                <a:rPr lang="fr" sz="1000" dirty="0">
                  <a:solidFill>
                    <a:srgbClr val="231F20"/>
                  </a:solidFill>
                  <a:latin typeface="Avenir Next LT Pro" panose="020B0504020202020204" pitchFamily="34" charset="77"/>
                  <a:ea typeface="Lexend Deca"/>
                  <a:cs typeface="Lexend Deca"/>
                  <a:sym typeface="Lexend Deca"/>
                </a:rPr>
                <a:t>Description 2</a:t>
              </a:r>
            </a:p>
          </p:txBody>
        </p:sp>
        <p:sp>
          <p:nvSpPr>
            <p:cNvPr id="35" name="Google Shape;184;p19">
              <a:extLst>
                <a:ext uri="{FF2B5EF4-FFF2-40B4-BE49-F238E27FC236}">
                  <a16:creationId xmlns:a16="http://schemas.microsoft.com/office/drawing/2014/main" id="{2B93F138-144B-28F7-F75F-5D253CB3FA90}"/>
                </a:ext>
              </a:extLst>
            </p:cNvPr>
            <p:cNvSpPr txBox="1"/>
            <p:nvPr/>
          </p:nvSpPr>
          <p:spPr>
            <a:xfrm>
              <a:off x="1089888" y="4447503"/>
              <a:ext cx="2919172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 algn="ctr" rtl="0">
                <a:spcBef>
                  <a:spcPts val="0"/>
                </a:spcBef>
                <a:spcAft>
                  <a:spcPts val="0"/>
                </a:spcAft>
              </a:pPr>
              <a:r>
                <a:rPr lang="fr" sz="1000" dirty="0">
                  <a:solidFill>
                    <a:srgbClr val="231F20"/>
                  </a:solidFill>
                  <a:latin typeface="Avenir Next LT Pro" panose="020B0504020202020204" pitchFamily="34" charset="77"/>
                  <a:ea typeface="Lexend Deca"/>
                  <a:cs typeface="Lexend Deca"/>
                  <a:sym typeface="Lexend Deca"/>
                </a:rPr>
                <a:t>Description 3</a:t>
              </a:r>
            </a:p>
          </p:txBody>
        </p:sp>
        <p:cxnSp>
          <p:nvCxnSpPr>
            <p:cNvPr id="36" name="Google Shape;261;p23">
              <a:extLst>
                <a:ext uri="{FF2B5EF4-FFF2-40B4-BE49-F238E27FC236}">
                  <a16:creationId xmlns:a16="http://schemas.microsoft.com/office/drawing/2014/main" id="{7063C516-362F-9959-BD72-21BD7F0F599F}"/>
                </a:ext>
              </a:extLst>
            </p:cNvPr>
            <p:cNvCxnSpPr>
              <a:cxnSpLocks/>
            </p:cNvCxnSpPr>
            <p:nvPr/>
          </p:nvCxnSpPr>
          <p:spPr>
            <a:xfrm>
              <a:off x="1578975" y="3966648"/>
              <a:ext cx="1896752" cy="0"/>
            </a:xfrm>
            <a:prstGeom prst="straightConnector1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261;p23">
              <a:extLst>
                <a:ext uri="{FF2B5EF4-FFF2-40B4-BE49-F238E27FC236}">
                  <a16:creationId xmlns:a16="http://schemas.microsoft.com/office/drawing/2014/main" id="{3EE986C9-7A54-2B8D-BD2E-217749B1972D}"/>
                </a:ext>
              </a:extLst>
            </p:cNvPr>
            <p:cNvCxnSpPr>
              <a:cxnSpLocks/>
            </p:cNvCxnSpPr>
            <p:nvPr/>
          </p:nvCxnSpPr>
          <p:spPr>
            <a:xfrm>
              <a:off x="1578975" y="4434813"/>
              <a:ext cx="1896752" cy="0"/>
            </a:xfrm>
            <a:prstGeom prst="straightConnector1">
              <a:avLst/>
            </a:prstGeom>
            <a:noFill/>
            <a:ln w="6350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4C7B689B-EF42-B90A-F03B-5A1EFA03A6D3}"/>
                </a:ext>
              </a:extLst>
            </p:cNvPr>
            <p:cNvSpPr/>
            <p:nvPr/>
          </p:nvSpPr>
          <p:spPr>
            <a:xfrm>
              <a:off x="1621062" y="4988248"/>
              <a:ext cx="1812575" cy="418050"/>
            </a:xfrm>
            <a:prstGeom prst="roundRect">
              <a:avLst>
                <a:gd name="adj" fmla="val 9877"/>
              </a:avLst>
            </a:prstGeom>
            <a:solidFill>
              <a:schemeClr val="tx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fr-FR" sz="1000" b="1" dirty="0">
                  <a:solidFill>
                    <a:schemeClr val="bg2"/>
                  </a:solidFill>
                  <a:latin typeface="Avenir Next LT Pro" panose="020B0504020202020204" pitchFamily="34" charset="77"/>
                </a:rPr>
                <a:t>XX€/mois</a:t>
              </a:r>
            </a:p>
          </p:txBody>
        </p:sp>
      </p:grpSp>
      <p:sp>
        <p:nvSpPr>
          <p:cNvPr id="41" name="Espace réservé du numéro de diapositive 2">
            <a:extLst>
              <a:ext uri="{FF2B5EF4-FFF2-40B4-BE49-F238E27FC236}">
                <a16:creationId xmlns:a16="http://schemas.microsoft.com/office/drawing/2014/main" id="{3540D9EA-2F44-973A-8666-912FF8ADA88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90958" y="6322856"/>
            <a:ext cx="538479" cy="367401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rgbClr val="231F20"/>
                </a:solidFill>
                <a:latin typeface="Avenir Next LT Pro" panose="020B0504020202020204" pitchFamily="34" charset="0"/>
              </a:defRPr>
            </a:lvl1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4</a:t>
            </a:fld>
            <a:endParaRPr lang="fr-FR" kern="0" dirty="0"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552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1B9837-3FBA-739F-A91E-B232D69B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Traction commerciale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EB4A4-030D-EB75-1C04-6CD6A2F13A1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fr-FR" dirty="0"/>
              <a:t>[sous-titre]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9D358E4-E92C-E8BF-511D-3DE623BCA2A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prstGeom prst="rect">
            <a:avLst/>
          </a:prstGeom>
        </p:spPr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latin typeface="Avenir Next LT Pro" panose="020B0504020202020204" pitchFamily="34" charset="0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5</a:t>
            </a:fld>
            <a:endParaRPr lang="fr-FR" kern="0" dirty="0">
              <a:latin typeface="Avenir Next LT Pro" panose="020B0504020202020204" pitchFamily="34" charset="0"/>
              <a:cs typeface="Arial"/>
              <a:sym typeface="Arial"/>
            </a:endParaRPr>
          </a:p>
        </p:txBody>
      </p:sp>
      <p:graphicFrame>
        <p:nvGraphicFramePr>
          <p:cNvPr id="34" name="Graphique 33">
            <a:extLst>
              <a:ext uri="{FF2B5EF4-FFF2-40B4-BE49-F238E27FC236}">
                <a16:creationId xmlns:a16="http://schemas.microsoft.com/office/drawing/2014/main" id="{AEDFAF0E-536A-829F-0282-85A072CECE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3257525"/>
              </p:ext>
            </p:extLst>
          </p:nvPr>
        </p:nvGraphicFramePr>
        <p:xfrm>
          <a:off x="420413" y="1645222"/>
          <a:ext cx="6117021" cy="4075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5" name="Groupe 4">
            <a:extLst>
              <a:ext uri="{FF2B5EF4-FFF2-40B4-BE49-F238E27FC236}">
                <a16:creationId xmlns:a16="http://schemas.microsoft.com/office/drawing/2014/main" id="{4F74962A-9E2D-420B-A793-77E037C4BB20}"/>
              </a:ext>
            </a:extLst>
          </p:cNvPr>
          <p:cNvGrpSpPr/>
          <p:nvPr/>
        </p:nvGrpSpPr>
        <p:grpSpPr>
          <a:xfrm>
            <a:off x="1722418" y="2820879"/>
            <a:ext cx="1361814" cy="673275"/>
            <a:chOff x="1722418" y="2820879"/>
            <a:chExt cx="1361814" cy="673275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26915B1D-521F-432A-8850-11DC9BEDFC50}"/>
                </a:ext>
              </a:extLst>
            </p:cNvPr>
            <p:cNvSpPr/>
            <p:nvPr/>
          </p:nvSpPr>
          <p:spPr>
            <a:xfrm>
              <a:off x="1722418" y="2820879"/>
              <a:ext cx="1361814" cy="673275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sp>
          <p:nvSpPr>
            <p:cNvPr id="39" name="Text 1">
              <a:extLst>
                <a:ext uri="{FF2B5EF4-FFF2-40B4-BE49-F238E27FC236}">
                  <a16:creationId xmlns:a16="http://schemas.microsoft.com/office/drawing/2014/main" id="{A4D2A296-F704-E076-F6F0-B57E874ADFC8}"/>
                </a:ext>
              </a:extLst>
            </p:cNvPr>
            <p:cNvSpPr/>
            <p:nvPr/>
          </p:nvSpPr>
          <p:spPr>
            <a:xfrm>
              <a:off x="1912817" y="2861798"/>
              <a:ext cx="981017" cy="591438"/>
            </a:xfrm>
            <a:prstGeom prst="rect">
              <a:avLst/>
            </a:prstGeom>
            <a:noFill/>
            <a:ln/>
            <a:effectLst/>
          </p:spPr>
          <p:txBody>
            <a:bodyPr wrap="squar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000" b="1" i="0" u="none" strike="noStrike" kern="0" cap="none" spc="-36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Montserrat" pitchFamily="34" charset="-122"/>
                  <a:cs typeface="Montserrat" pitchFamily="34" charset="-120"/>
                </a:rPr>
                <a:t>+100</a:t>
              </a:r>
              <a:r>
                <a:rPr kumimoji="0" lang="fr-FR" sz="1600" b="1" i="0" u="none" strike="noStrike" kern="0" cap="none" spc="-36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Montserrat" pitchFamily="34" charset="-122"/>
                  <a:cs typeface="Montserrat" pitchFamily="34" charset="-120"/>
                </a:rPr>
                <a:t>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0" i="0" u="none" strike="noStrike" kern="0" cap="none" spc="-36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Montserrat" pitchFamily="34" charset="-122"/>
                  <a:cs typeface="Montserrat" pitchFamily="34" charset="-120"/>
                </a:rPr>
                <a:t>/mois</a:t>
              </a:r>
              <a:endPara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 panose="020B0504020202020204" pitchFamily="34" charset="0"/>
              </a:endParaRP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8BD21838-CD5B-FD77-403F-83BDF173EFCF}"/>
              </a:ext>
            </a:extLst>
          </p:cNvPr>
          <p:cNvSpPr/>
          <p:nvPr/>
        </p:nvSpPr>
        <p:spPr>
          <a:xfrm>
            <a:off x="887335" y="5796332"/>
            <a:ext cx="54026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231F20"/>
                </a:solidFill>
                <a:latin typeface="Avenir Next LT Pro" panose="020B05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[TITRE GRAPH]</a:t>
            </a:r>
            <a:endParaRPr lang="fr-FR" sz="1050" dirty="0">
              <a:solidFill>
                <a:srgbClr val="231F20"/>
              </a:solidFill>
              <a:latin typeface="Avenir Next LT Pro" panose="020B05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BB40C330-3BCC-E5E6-2846-D2E13EDA166A}"/>
              </a:ext>
            </a:extLst>
          </p:cNvPr>
          <p:cNvGrpSpPr/>
          <p:nvPr/>
        </p:nvGrpSpPr>
        <p:grpSpPr>
          <a:xfrm>
            <a:off x="7480738" y="1398726"/>
            <a:ext cx="3532197" cy="985741"/>
            <a:chOff x="1132167" y="2603640"/>
            <a:chExt cx="3532197" cy="985741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E67DEFA5-7464-C84F-0E90-5B3D27B6A35E}"/>
                </a:ext>
              </a:extLst>
            </p:cNvPr>
            <p:cNvSpPr/>
            <p:nvPr/>
          </p:nvSpPr>
          <p:spPr>
            <a:xfrm>
              <a:off x="1132167" y="2603640"/>
              <a:ext cx="3532197" cy="985741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sp>
          <p:nvSpPr>
            <p:cNvPr id="9" name="Google Shape;260;p23">
              <a:extLst>
                <a:ext uri="{FF2B5EF4-FFF2-40B4-BE49-F238E27FC236}">
                  <a16:creationId xmlns:a16="http://schemas.microsoft.com/office/drawing/2014/main" id="{4531030A-69F8-2D9E-7D0A-78C7A79B7642}"/>
                </a:ext>
              </a:extLst>
            </p:cNvPr>
            <p:cNvSpPr txBox="1"/>
            <p:nvPr/>
          </p:nvSpPr>
          <p:spPr>
            <a:xfrm>
              <a:off x="1435588" y="2679862"/>
              <a:ext cx="2938448" cy="821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2400" b="1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"/>
                  <a:cs typeface="Lexend Deca"/>
                  <a:sym typeface="Lexend Deca"/>
                </a:rPr>
                <a:t>XX</a:t>
              </a:r>
            </a:p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1200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"/>
                </a:rPr>
                <a:t>Chiffre clé 1</a:t>
              </a:r>
              <a:endParaRPr sz="12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 Light"/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9CEB1F96-037C-0CFD-C307-6E5B4B7267DD}"/>
              </a:ext>
            </a:extLst>
          </p:cNvPr>
          <p:cNvGrpSpPr/>
          <p:nvPr/>
        </p:nvGrpSpPr>
        <p:grpSpPr>
          <a:xfrm>
            <a:off x="7480737" y="2574887"/>
            <a:ext cx="3532197" cy="985741"/>
            <a:chOff x="1132167" y="2603640"/>
            <a:chExt cx="3532197" cy="985741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9421CBCD-9153-8F40-EC92-885D316C0241}"/>
                </a:ext>
              </a:extLst>
            </p:cNvPr>
            <p:cNvSpPr/>
            <p:nvPr/>
          </p:nvSpPr>
          <p:spPr>
            <a:xfrm>
              <a:off x="1132167" y="2603640"/>
              <a:ext cx="3532197" cy="985741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sp>
          <p:nvSpPr>
            <p:cNvPr id="14" name="Google Shape;260;p23">
              <a:extLst>
                <a:ext uri="{FF2B5EF4-FFF2-40B4-BE49-F238E27FC236}">
                  <a16:creationId xmlns:a16="http://schemas.microsoft.com/office/drawing/2014/main" id="{7F33CBFB-FDC0-E853-2802-27209A264903}"/>
                </a:ext>
              </a:extLst>
            </p:cNvPr>
            <p:cNvSpPr txBox="1"/>
            <p:nvPr/>
          </p:nvSpPr>
          <p:spPr>
            <a:xfrm>
              <a:off x="1435588" y="2679862"/>
              <a:ext cx="2938448" cy="821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2400" b="1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"/>
                  <a:cs typeface="Lexend Deca"/>
                  <a:sym typeface="Lexend Deca"/>
                </a:rPr>
                <a:t>XX</a:t>
              </a:r>
            </a:p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1200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"/>
                </a:rPr>
                <a:t>Chiffre clé 1</a:t>
              </a:r>
              <a:endParaRPr sz="12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 Light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C5D7E13-F5CE-7184-C4A6-832B2C7715A3}"/>
              </a:ext>
            </a:extLst>
          </p:cNvPr>
          <p:cNvGrpSpPr/>
          <p:nvPr/>
        </p:nvGrpSpPr>
        <p:grpSpPr>
          <a:xfrm>
            <a:off x="7480736" y="3751048"/>
            <a:ext cx="3532197" cy="985741"/>
            <a:chOff x="1132167" y="2603640"/>
            <a:chExt cx="3532197" cy="985741"/>
          </a:xfrm>
        </p:grpSpPr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57CDD063-A56F-69F3-76A7-7AC71E1AB782}"/>
                </a:ext>
              </a:extLst>
            </p:cNvPr>
            <p:cNvSpPr/>
            <p:nvPr/>
          </p:nvSpPr>
          <p:spPr>
            <a:xfrm>
              <a:off x="1132167" y="2603640"/>
              <a:ext cx="3532197" cy="985741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sp>
          <p:nvSpPr>
            <p:cNvPr id="17" name="Google Shape;260;p23">
              <a:extLst>
                <a:ext uri="{FF2B5EF4-FFF2-40B4-BE49-F238E27FC236}">
                  <a16:creationId xmlns:a16="http://schemas.microsoft.com/office/drawing/2014/main" id="{6773D6F0-AF1B-E484-B84B-825E5A9D1C41}"/>
                </a:ext>
              </a:extLst>
            </p:cNvPr>
            <p:cNvSpPr txBox="1"/>
            <p:nvPr/>
          </p:nvSpPr>
          <p:spPr>
            <a:xfrm>
              <a:off x="1435588" y="2679862"/>
              <a:ext cx="2938448" cy="821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2400" b="1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"/>
                  <a:cs typeface="Lexend Deca"/>
                  <a:sym typeface="Lexend Deca"/>
                </a:rPr>
                <a:t>XX</a:t>
              </a:r>
            </a:p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1200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"/>
                </a:rPr>
                <a:t>Chiffre clé 1</a:t>
              </a:r>
              <a:endParaRPr sz="12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 Light"/>
              </a:endParaRP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35FFDD69-3791-9D57-CFA7-BC13FA9E1221}"/>
              </a:ext>
            </a:extLst>
          </p:cNvPr>
          <p:cNvGrpSpPr/>
          <p:nvPr/>
        </p:nvGrpSpPr>
        <p:grpSpPr>
          <a:xfrm>
            <a:off x="7480735" y="4927209"/>
            <a:ext cx="3532197" cy="985741"/>
            <a:chOff x="1132167" y="2603640"/>
            <a:chExt cx="3532197" cy="985741"/>
          </a:xfrm>
        </p:grpSpPr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9F099A58-9479-D140-601D-DDFA24BB5EAA}"/>
                </a:ext>
              </a:extLst>
            </p:cNvPr>
            <p:cNvSpPr/>
            <p:nvPr/>
          </p:nvSpPr>
          <p:spPr>
            <a:xfrm>
              <a:off x="1132167" y="2603640"/>
              <a:ext cx="3532197" cy="985741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sp>
          <p:nvSpPr>
            <p:cNvPr id="20" name="Google Shape;260;p23">
              <a:extLst>
                <a:ext uri="{FF2B5EF4-FFF2-40B4-BE49-F238E27FC236}">
                  <a16:creationId xmlns:a16="http://schemas.microsoft.com/office/drawing/2014/main" id="{AD6E85A9-1EFF-F21D-FA59-4EDE8D804BE7}"/>
                </a:ext>
              </a:extLst>
            </p:cNvPr>
            <p:cNvSpPr txBox="1"/>
            <p:nvPr/>
          </p:nvSpPr>
          <p:spPr>
            <a:xfrm>
              <a:off x="1435588" y="2679862"/>
              <a:ext cx="2938448" cy="821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2400" b="1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"/>
                  <a:cs typeface="Lexend Deca"/>
                  <a:sym typeface="Lexend Deca"/>
                </a:rPr>
                <a:t>XX</a:t>
              </a:r>
            </a:p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1200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"/>
                </a:rPr>
                <a:t>Chiffre clé 1</a:t>
              </a:r>
              <a:endParaRPr sz="12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 Light"/>
              </a:endParaRPr>
            </a:p>
          </p:txBody>
        </p:sp>
      </p:grpSp>
      <p:sp>
        <p:nvSpPr>
          <p:cNvPr id="21" name="Espace réservé du numéro de diapositive 2">
            <a:extLst>
              <a:ext uri="{FF2B5EF4-FFF2-40B4-BE49-F238E27FC236}">
                <a16:creationId xmlns:a16="http://schemas.microsoft.com/office/drawing/2014/main" id="{2E046E14-46AC-D779-D580-C6A1A15842C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90958" y="6313331"/>
            <a:ext cx="538479" cy="367401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rgbClr val="231F20"/>
                </a:solidFill>
                <a:latin typeface="Avenir Next LT Pro" panose="020B0504020202020204" pitchFamily="34" charset="0"/>
              </a:defRPr>
            </a:lvl1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5</a:t>
            </a:fld>
            <a:endParaRPr lang="fr-FR" kern="0" dirty="0"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3668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1B9837-3FBA-739F-A91E-B232D69B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Equipe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EB4A4-030D-EB75-1C04-6CD6A2F13A1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67640" y="1142001"/>
            <a:ext cx="10515600" cy="491984"/>
          </a:xfrm>
        </p:spPr>
        <p:txBody>
          <a:bodyPr/>
          <a:lstStyle/>
          <a:p>
            <a:r>
              <a:rPr lang="fr-FR" dirty="0"/>
              <a:t>[sous-titre]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9D358E4-E92C-E8BF-511D-3DE623BCA2A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prstGeom prst="rect">
            <a:avLst/>
          </a:prstGeom>
        </p:spPr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latin typeface="Montserrat" panose="00000500000000000000" pitchFamily="2" charset="0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6</a:t>
            </a:fld>
            <a:endParaRPr lang="fr-FR" kern="0" dirty="0"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4" name="Espace réservé du numéro de diapositive 2">
            <a:extLst>
              <a:ext uri="{FF2B5EF4-FFF2-40B4-BE49-F238E27FC236}">
                <a16:creationId xmlns:a16="http://schemas.microsoft.com/office/drawing/2014/main" id="{909DC4B4-AD3F-7BD1-12A3-B5611BC7B09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90958" y="6313331"/>
            <a:ext cx="538479" cy="367401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rgbClr val="231F20"/>
                </a:solidFill>
                <a:latin typeface="Avenir Next LT Pro" panose="020B0504020202020204" pitchFamily="34" charset="0"/>
              </a:defRPr>
            </a:lvl1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6</a:t>
            </a:fld>
            <a:endParaRPr lang="fr-FR" kern="0" dirty="0">
              <a:cs typeface="Arial"/>
              <a:sym typeface="Arial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71ABC82-9E1A-E7BA-EE10-917A11CD992B}"/>
              </a:ext>
            </a:extLst>
          </p:cNvPr>
          <p:cNvSpPr/>
          <p:nvPr/>
        </p:nvSpPr>
        <p:spPr>
          <a:xfrm>
            <a:off x="1543051" y="2054419"/>
            <a:ext cx="5827938" cy="1631755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>
            <a:noFill/>
          </a:ln>
          <a:effectLst>
            <a:outerShdw blurRad="1270000" sx="92000" sy="9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fr-FR" sz="1050" dirty="0">
              <a:solidFill>
                <a:srgbClr val="231F20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7" name="Google Shape;260;p23">
            <a:extLst>
              <a:ext uri="{FF2B5EF4-FFF2-40B4-BE49-F238E27FC236}">
                <a16:creationId xmlns:a16="http://schemas.microsoft.com/office/drawing/2014/main" id="{B28554FD-2883-4D85-1627-75A72A03F4B7}"/>
              </a:ext>
            </a:extLst>
          </p:cNvPr>
          <p:cNvSpPr txBox="1"/>
          <p:nvPr/>
        </p:nvSpPr>
        <p:spPr>
          <a:xfrm>
            <a:off x="3239372" y="2243256"/>
            <a:ext cx="4503091" cy="104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1100"/>
              <a:buFont typeface="Arial"/>
              <a:buNone/>
            </a:pPr>
            <a:r>
              <a:rPr lang="fr" b="1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rPr>
              <a:t>Prénom Nom</a:t>
            </a:r>
          </a:p>
          <a:p>
            <a:pPr>
              <a:lnSpc>
                <a:spcPct val="115000"/>
              </a:lnSpc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2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"/>
              </a:rPr>
              <a:t>Fonction</a:t>
            </a: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  <a:buFont typeface="Arial"/>
              <a:buNone/>
            </a:pPr>
            <a:r>
              <a:rPr lang="fr" sz="1200" i="1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"/>
              </a:rPr>
              <a:t>Domaine expertise / Experience</a:t>
            </a:r>
            <a:endParaRPr sz="1200" i="1" kern="0" dirty="0">
              <a:solidFill>
                <a:srgbClr val="000000"/>
              </a:solidFill>
              <a:latin typeface="Avenir Next LT Pro" panose="020B0504020202020204" pitchFamily="34" charset="0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8" name="Google Shape;74;p14">
            <a:extLst>
              <a:ext uri="{FF2B5EF4-FFF2-40B4-BE49-F238E27FC236}">
                <a16:creationId xmlns:a16="http://schemas.microsoft.com/office/drawing/2014/main" id="{76A5BE81-41BE-2B40-9B99-01B080BF1AC6}"/>
              </a:ext>
            </a:extLst>
          </p:cNvPr>
          <p:cNvSpPr txBox="1"/>
          <p:nvPr/>
        </p:nvSpPr>
        <p:spPr>
          <a:xfrm>
            <a:off x="6291545" y="2266476"/>
            <a:ext cx="843454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10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rPr>
              <a:t>[Logo]</a:t>
            </a:r>
            <a:endParaRPr sz="1000" kern="0" dirty="0">
              <a:solidFill>
                <a:srgbClr val="000000"/>
              </a:solidFill>
              <a:latin typeface="Avenir Next LT Pro" panose="020B0504020202020204" pitchFamily="34" charset="0"/>
              <a:ea typeface="Lexend Deca ExtraLight"/>
              <a:cs typeface="Lexend Deca ExtraLight"/>
              <a:sym typeface="Lexend Deca ExtraLight"/>
            </a:endParaRPr>
          </a:p>
        </p:txBody>
      </p:sp>
      <p:sp>
        <p:nvSpPr>
          <p:cNvPr id="9" name="Google Shape;74;p14">
            <a:extLst>
              <a:ext uri="{FF2B5EF4-FFF2-40B4-BE49-F238E27FC236}">
                <a16:creationId xmlns:a16="http://schemas.microsoft.com/office/drawing/2014/main" id="{92A31CE9-AAD7-293B-10A7-ECD7B1E1FB27}"/>
              </a:ext>
            </a:extLst>
          </p:cNvPr>
          <p:cNvSpPr txBox="1"/>
          <p:nvPr/>
        </p:nvSpPr>
        <p:spPr>
          <a:xfrm>
            <a:off x="6291545" y="2667934"/>
            <a:ext cx="843454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10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rPr>
              <a:t>[Logo]</a:t>
            </a:r>
            <a:endParaRPr sz="1000" kern="0" dirty="0">
              <a:solidFill>
                <a:srgbClr val="000000"/>
              </a:solidFill>
              <a:latin typeface="Avenir Next LT Pro" panose="020B0504020202020204" pitchFamily="34" charset="0"/>
              <a:ea typeface="Lexend Deca ExtraLight"/>
              <a:cs typeface="Lexend Deca ExtraLight"/>
              <a:sym typeface="Lexend Deca ExtraLight"/>
            </a:endParaRPr>
          </a:p>
        </p:txBody>
      </p:sp>
      <p:sp>
        <p:nvSpPr>
          <p:cNvPr id="11" name="Google Shape;74;p14">
            <a:extLst>
              <a:ext uri="{FF2B5EF4-FFF2-40B4-BE49-F238E27FC236}">
                <a16:creationId xmlns:a16="http://schemas.microsoft.com/office/drawing/2014/main" id="{5318EF9B-53B5-3949-69E5-E100896B6BE4}"/>
              </a:ext>
            </a:extLst>
          </p:cNvPr>
          <p:cNvSpPr txBox="1"/>
          <p:nvPr/>
        </p:nvSpPr>
        <p:spPr>
          <a:xfrm>
            <a:off x="6291545" y="3069392"/>
            <a:ext cx="843454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10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rPr>
              <a:t>[Logo]</a:t>
            </a:r>
            <a:endParaRPr sz="1000" kern="0" dirty="0">
              <a:solidFill>
                <a:srgbClr val="000000"/>
              </a:solidFill>
              <a:latin typeface="Avenir Next LT Pro" panose="020B0504020202020204" pitchFamily="34" charset="0"/>
              <a:ea typeface="Lexend Deca ExtraLight"/>
              <a:cs typeface="Lexend Deca ExtraLight"/>
              <a:sym typeface="Lexend Deca ExtraLight"/>
            </a:endParaRPr>
          </a:p>
        </p:txBody>
      </p:sp>
      <p:sp>
        <p:nvSpPr>
          <p:cNvPr id="12" name="Google Shape;72;p14">
            <a:extLst>
              <a:ext uri="{FF2B5EF4-FFF2-40B4-BE49-F238E27FC236}">
                <a16:creationId xmlns:a16="http://schemas.microsoft.com/office/drawing/2014/main" id="{611483C4-A0FE-D96D-BE50-6EE1AEED124D}"/>
              </a:ext>
            </a:extLst>
          </p:cNvPr>
          <p:cNvSpPr/>
          <p:nvPr/>
        </p:nvSpPr>
        <p:spPr>
          <a:xfrm>
            <a:off x="1919383" y="2393190"/>
            <a:ext cx="948515" cy="926484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8575" cap="flat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  <a:buFont typeface="Arial"/>
              <a:buNone/>
            </a:pPr>
            <a:endParaRPr kern="0" dirty="0">
              <a:solidFill>
                <a:srgbClr val="FFFFFF"/>
              </a:solidFill>
              <a:latin typeface="Avenir Next LT Pro" panose="020B05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9322C82A-BF11-C2ED-9764-5C5828C17563}"/>
              </a:ext>
            </a:extLst>
          </p:cNvPr>
          <p:cNvSpPr/>
          <p:nvPr/>
        </p:nvSpPr>
        <p:spPr>
          <a:xfrm>
            <a:off x="1543051" y="3875011"/>
            <a:ext cx="5827938" cy="1631755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>
            <a:noFill/>
          </a:ln>
          <a:effectLst>
            <a:outerShdw blurRad="1270000" sx="92000" sy="9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fr-FR" sz="1050" dirty="0">
              <a:solidFill>
                <a:srgbClr val="231F20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4" name="Google Shape;260;p23">
            <a:extLst>
              <a:ext uri="{FF2B5EF4-FFF2-40B4-BE49-F238E27FC236}">
                <a16:creationId xmlns:a16="http://schemas.microsoft.com/office/drawing/2014/main" id="{5AF46088-7101-151B-88CB-9DC500D60739}"/>
              </a:ext>
            </a:extLst>
          </p:cNvPr>
          <p:cNvSpPr txBox="1"/>
          <p:nvPr/>
        </p:nvSpPr>
        <p:spPr>
          <a:xfrm>
            <a:off x="3239372" y="4063848"/>
            <a:ext cx="4503091" cy="104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1100"/>
              <a:buFont typeface="Arial"/>
              <a:buNone/>
            </a:pPr>
            <a:r>
              <a:rPr lang="fr" b="1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rPr>
              <a:t>Prénom Nom</a:t>
            </a:r>
          </a:p>
          <a:p>
            <a:pPr>
              <a:lnSpc>
                <a:spcPct val="115000"/>
              </a:lnSpc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2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"/>
              </a:rPr>
              <a:t>Fonction</a:t>
            </a: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  <a:buFont typeface="Arial"/>
              <a:buNone/>
            </a:pPr>
            <a:r>
              <a:rPr lang="fr" sz="1200" i="1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"/>
              </a:rPr>
              <a:t>Domaine expertise / Experience</a:t>
            </a:r>
            <a:endParaRPr sz="1200" i="1" kern="0" dirty="0">
              <a:solidFill>
                <a:srgbClr val="000000"/>
              </a:solidFill>
              <a:latin typeface="Avenir Next LT Pro" panose="020B0504020202020204" pitchFamily="34" charset="0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15" name="Google Shape;74;p14">
            <a:extLst>
              <a:ext uri="{FF2B5EF4-FFF2-40B4-BE49-F238E27FC236}">
                <a16:creationId xmlns:a16="http://schemas.microsoft.com/office/drawing/2014/main" id="{F8EC6FCB-2D67-49B9-0182-06F6C2F4AB74}"/>
              </a:ext>
            </a:extLst>
          </p:cNvPr>
          <p:cNvSpPr txBox="1"/>
          <p:nvPr/>
        </p:nvSpPr>
        <p:spPr>
          <a:xfrm>
            <a:off x="6291545" y="4087068"/>
            <a:ext cx="843454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10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rPr>
              <a:t>[Logo]</a:t>
            </a:r>
            <a:endParaRPr sz="1000" kern="0" dirty="0">
              <a:solidFill>
                <a:srgbClr val="000000"/>
              </a:solidFill>
              <a:latin typeface="Avenir Next LT Pro" panose="020B0504020202020204" pitchFamily="34" charset="0"/>
              <a:ea typeface="Lexend Deca ExtraLight"/>
              <a:cs typeface="Lexend Deca ExtraLight"/>
              <a:sym typeface="Lexend Deca ExtraLight"/>
            </a:endParaRPr>
          </a:p>
        </p:txBody>
      </p:sp>
      <p:sp>
        <p:nvSpPr>
          <p:cNvPr id="16" name="Google Shape;74;p14">
            <a:extLst>
              <a:ext uri="{FF2B5EF4-FFF2-40B4-BE49-F238E27FC236}">
                <a16:creationId xmlns:a16="http://schemas.microsoft.com/office/drawing/2014/main" id="{F0C772EF-C082-E77A-4CC4-1C121762B4D6}"/>
              </a:ext>
            </a:extLst>
          </p:cNvPr>
          <p:cNvSpPr txBox="1"/>
          <p:nvPr/>
        </p:nvSpPr>
        <p:spPr>
          <a:xfrm>
            <a:off x="6291545" y="4488526"/>
            <a:ext cx="843454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10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rPr>
              <a:t>[Logo]</a:t>
            </a:r>
            <a:endParaRPr sz="1000" kern="0" dirty="0">
              <a:solidFill>
                <a:srgbClr val="000000"/>
              </a:solidFill>
              <a:latin typeface="Avenir Next LT Pro" panose="020B0504020202020204" pitchFamily="34" charset="0"/>
              <a:ea typeface="Lexend Deca ExtraLight"/>
              <a:cs typeface="Lexend Deca ExtraLight"/>
              <a:sym typeface="Lexend Deca ExtraLight"/>
            </a:endParaRPr>
          </a:p>
        </p:txBody>
      </p:sp>
      <p:sp>
        <p:nvSpPr>
          <p:cNvPr id="17" name="Google Shape;74;p14">
            <a:extLst>
              <a:ext uri="{FF2B5EF4-FFF2-40B4-BE49-F238E27FC236}">
                <a16:creationId xmlns:a16="http://schemas.microsoft.com/office/drawing/2014/main" id="{C3161E19-82E6-A0C0-EE1F-7A6559888449}"/>
              </a:ext>
            </a:extLst>
          </p:cNvPr>
          <p:cNvSpPr txBox="1"/>
          <p:nvPr/>
        </p:nvSpPr>
        <p:spPr>
          <a:xfrm>
            <a:off x="6291545" y="4889984"/>
            <a:ext cx="843454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10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rPr>
              <a:t>[Logo]</a:t>
            </a:r>
            <a:endParaRPr sz="1000" kern="0" dirty="0">
              <a:solidFill>
                <a:srgbClr val="000000"/>
              </a:solidFill>
              <a:latin typeface="Avenir Next LT Pro" panose="020B0504020202020204" pitchFamily="34" charset="0"/>
              <a:ea typeface="Lexend Deca ExtraLight"/>
              <a:cs typeface="Lexend Deca ExtraLight"/>
              <a:sym typeface="Lexend Deca ExtraLight"/>
            </a:endParaRPr>
          </a:p>
        </p:txBody>
      </p:sp>
      <p:sp>
        <p:nvSpPr>
          <p:cNvPr id="18" name="Google Shape;72;p14">
            <a:extLst>
              <a:ext uri="{FF2B5EF4-FFF2-40B4-BE49-F238E27FC236}">
                <a16:creationId xmlns:a16="http://schemas.microsoft.com/office/drawing/2014/main" id="{B5597DAC-666C-ADBD-C3EF-E3EB157BC216}"/>
              </a:ext>
            </a:extLst>
          </p:cNvPr>
          <p:cNvSpPr/>
          <p:nvPr/>
        </p:nvSpPr>
        <p:spPr>
          <a:xfrm>
            <a:off x="1919383" y="4213782"/>
            <a:ext cx="948515" cy="926484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8575" cap="flat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  <a:buFont typeface="Arial"/>
              <a:buNone/>
            </a:pPr>
            <a:endParaRPr kern="0" dirty="0">
              <a:solidFill>
                <a:srgbClr val="FFFFFF"/>
              </a:solidFill>
              <a:latin typeface="Avenir Next LT Pro" panose="020B05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7628EC3-F69A-8FAF-4DA8-D4BC367AF2D9}"/>
              </a:ext>
            </a:extLst>
          </p:cNvPr>
          <p:cNvSpPr/>
          <p:nvPr/>
        </p:nvSpPr>
        <p:spPr>
          <a:xfrm>
            <a:off x="7742463" y="2062876"/>
            <a:ext cx="3618690" cy="3443890"/>
          </a:xfrm>
          <a:prstGeom prst="roundRect">
            <a:avLst>
              <a:gd name="adj" fmla="val 4345"/>
            </a:avLst>
          </a:prstGeom>
          <a:solidFill>
            <a:schemeClr val="bg2"/>
          </a:solidFill>
          <a:ln>
            <a:noFill/>
          </a:ln>
          <a:effectLst>
            <a:outerShdw blurRad="1270000" sx="92000" sy="9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fr-FR" sz="1050" dirty="0">
              <a:solidFill>
                <a:srgbClr val="231F20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21" name="Google Shape;495;p104">
            <a:extLst>
              <a:ext uri="{FF2B5EF4-FFF2-40B4-BE49-F238E27FC236}">
                <a16:creationId xmlns:a16="http://schemas.microsoft.com/office/drawing/2014/main" id="{7E6CCB3B-290A-D8F9-810A-C165DA41FD70}"/>
              </a:ext>
            </a:extLst>
          </p:cNvPr>
          <p:cNvSpPr/>
          <p:nvPr/>
        </p:nvSpPr>
        <p:spPr>
          <a:xfrm>
            <a:off x="8169531" y="3819803"/>
            <a:ext cx="2764554" cy="335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3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 panose="020B05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Fira Sans"/>
              </a:rPr>
              <a:t>PARTENAIRES</a:t>
            </a:r>
            <a:endParaRPr kumimoji="0" lang="fr-FR" sz="1800" b="0" u="none" strike="noStrike" kern="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venir Next LT Pro" panose="020B05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Fira Sans Light"/>
            </a:endParaRPr>
          </a:p>
        </p:txBody>
      </p:sp>
      <p:sp>
        <p:nvSpPr>
          <p:cNvPr id="23" name="Google Shape;74;p14">
            <a:extLst>
              <a:ext uri="{FF2B5EF4-FFF2-40B4-BE49-F238E27FC236}">
                <a16:creationId xmlns:a16="http://schemas.microsoft.com/office/drawing/2014/main" id="{86CE70DC-778E-7E7E-E96B-4B534AE9C102}"/>
              </a:ext>
            </a:extLst>
          </p:cNvPr>
          <p:cNvSpPr txBox="1"/>
          <p:nvPr/>
        </p:nvSpPr>
        <p:spPr>
          <a:xfrm>
            <a:off x="8434670" y="4315958"/>
            <a:ext cx="843454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10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rPr>
              <a:t>[Logo]</a:t>
            </a:r>
            <a:endParaRPr sz="1000" kern="0" dirty="0">
              <a:solidFill>
                <a:srgbClr val="000000"/>
              </a:solidFill>
              <a:latin typeface="Avenir Next LT Pro" panose="020B0504020202020204" pitchFamily="34" charset="0"/>
              <a:ea typeface="Lexend Deca ExtraLight"/>
              <a:cs typeface="Lexend Deca ExtraLight"/>
              <a:sym typeface="Lexend Deca ExtraLight"/>
            </a:endParaRPr>
          </a:p>
        </p:txBody>
      </p:sp>
      <p:sp>
        <p:nvSpPr>
          <p:cNvPr id="24" name="Google Shape;74;p14">
            <a:extLst>
              <a:ext uri="{FF2B5EF4-FFF2-40B4-BE49-F238E27FC236}">
                <a16:creationId xmlns:a16="http://schemas.microsoft.com/office/drawing/2014/main" id="{D19528A9-3581-9E4E-4B06-22506D43CA65}"/>
              </a:ext>
            </a:extLst>
          </p:cNvPr>
          <p:cNvSpPr txBox="1"/>
          <p:nvPr/>
        </p:nvSpPr>
        <p:spPr>
          <a:xfrm>
            <a:off x="9850890" y="4315958"/>
            <a:ext cx="843454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10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rPr>
              <a:t>[Logo]</a:t>
            </a:r>
            <a:endParaRPr sz="1000" kern="0" dirty="0">
              <a:solidFill>
                <a:srgbClr val="000000"/>
              </a:solidFill>
              <a:latin typeface="Avenir Next LT Pro" panose="020B0504020202020204" pitchFamily="34" charset="0"/>
              <a:ea typeface="Lexend Deca ExtraLight"/>
              <a:cs typeface="Lexend Deca ExtraLight"/>
              <a:sym typeface="Lexend Deca ExtraLight"/>
            </a:endParaRPr>
          </a:p>
        </p:txBody>
      </p:sp>
      <p:sp>
        <p:nvSpPr>
          <p:cNvPr id="25" name="Google Shape;74;p14">
            <a:extLst>
              <a:ext uri="{FF2B5EF4-FFF2-40B4-BE49-F238E27FC236}">
                <a16:creationId xmlns:a16="http://schemas.microsoft.com/office/drawing/2014/main" id="{1AC9D568-00BD-9C4D-F341-039C95F8520C}"/>
              </a:ext>
            </a:extLst>
          </p:cNvPr>
          <p:cNvSpPr txBox="1"/>
          <p:nvPr/>
        </p:nvSpPr>
        <p:spPr>
          <a:xfrm>
            <a:off x="8434670" y="4847019"/>
            <a:ext cx="843454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10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rPr>
              <a:t>[Logo]</a:t>
            </a:r>
            <a:endParaRPr sz="1000" kern="0" dirty="0">
              <a:solidFill>
                <a:srgbClr val="000000"/>
              </a:solidFill>
              <a:latin typeface="Avenir Next LT Pro" panose="020B0504020202020204" pitchFamily="34" charset="0"/>
              <a:ea typeface="Lexend Deca ExtraLight"/>
              <a:cs typeface="Lexend Deca ExtraLight"/>
              <a:sym typeface="Lexend Deca ExtraLight"/>
            </a:endParaRPr>
          </a:p>
        </p:txBody>
      </p:sp>
      <p:sp>
        <p:nvSpPr>
          <p:cNvPr id="26" name="Google Shape;74;p14">
            <a:extLst>
              <a:ext uri="{FF2B5EF4-FFF2-40B4-BE49-F238E27FC236}">
                <a16:creationId xmlns:a16="http://schemas.microsoft.com/office/drawing/2014/main" id="{E8678AE6-58F3-D84B-E77E-E517E8F67526}"/>
              </a:ext>
            </a:extLst>
          </p:cNvPr>
          <p:cNvSpPr txBox="1"/>
          <p:nvPr/>
        </p:nvSpPr>
        <p:spPr>
          <a:xfrm>
            <a:off x="9850890" y="4847019"/>
            <a:ext cx="843454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10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rPr>
              <a:t>[Logo]</a:t>
            </a:r>
            <a:endParaRPr sz="1000" kern="0" dirty="0">
              <a:solidFill>
                <a:srgbClr val="000000"/>
              </a:solidFill>
              <a:latin typeface="Avenir Next LT Pro" panose="020B0504020202020204" pitchFamily="34" charset="0"/>
              <a:ea typeface="Lexend Deca ExtraLight"/>
              <a:cs typeface="Lexend Deca ExtraLight"/>
              <a:sym typeface="Lexend Deca ExtraLight"/>
            </a:endParaRPr>
          </a:p>
        </p:txBody>
      </p:sp>
      <p:sp>
        <p:nvSpPr>
          <p:cNvPr id="32" name="Google Shape;260;p23">
            <a:extLst>
              <a:ext uri="{FF2B5EF4-FFF2-40B4-BE49-F238E27FC236}">
                <a16:creationId xmlns:a16="http://schemas.microsoft.com/office/drawing/2014/main" id="{3F8130E5-7446-F190-EBB8-F12C84A54D0C}"/>
              </a:ext>
            </a:extLst>
          </p:cNvPr>
          <p:cNvSpPr txBox="1"/>
          <p:nvPr/>
        </p:nvSpPr>
        <p:spPr>
          <a:xfrm>
            <a:off x="8104835" y="2488416"/>
            <a:ext cx="2938448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100"/>
              <a:buFont typeface="Arial"/>
              <a:buNone/>
            </a:pPr>
            <a:r>
              <a:rPr lang="fr" sz="2400" b="1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rPr>
              <a:t>#XX </a:t>
            </a:r>
            <a:r>
              <a:rPr lang="fr" sz="1200" kern="0" dirty="0">
                <a:solidFill>
                  <a:srgbClr val="000000"/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"/>
              </a:rPr>
              <a:t>Collaborateurs</a:t>
            </a:r>
            <a:endParaRPr sz="1200" kern="0" dirty="0">
              <a:solidFill>
                <a:srgbClr val="000000"/>
              </a:solidFill>
              <a:latin typeface="Avenir Next LT Pro" panose="020B0504020202020204" pitchFamily="34" charset="0"/>
              <a:ea typeface="Lexend Deca Light"/>
              <a:cs typeface="Lexend Deca Light"/>
              <a:sym typeface="Lexend Deca Light"/>
            </a:endParaRP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C5DD30F-69CB-CB04-99B7-D65AB2B352B9}"/>
              </a:ext>
            </a:extLst>
          </p:cNvPr>
          <p:cNvCxnSpPr>
            <a:cxnSpLocks/>
          </p:cNvCxnSpPr>
          <p:nvPr/>
        </p:nvCxnSpPr>
        <p:spPr>
          <a:xfrm>
            <a:off x="8642531" y="3476625"/>
            <a:ext cx="181855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895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1B9837-3FBA-739F-A91E-B232D69B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Besoin de financement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EB4A4-030D-EB75-1C04-6CD6A2F13A1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fr-FR" dirty="0"/>
              <a:t>[sous-titre]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9D358E4-E92C-E8BF-511D-3DE623BCA2A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prstGeom prst="rect">
            <a:avLst/>
          </a:prstGeom>
        </p:spPr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latin typeface="Montserrat" panose="00000500000000000000" pitchFamily="2" charset="0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7</a:t>
            </a:fld>
            <a:endParaRPr lang="fr-FR" kern="0" dirty="0">
              <a:latin typeface="Montserrat" panose="00000500000000000000" pitchFamily="2" charset="0"/>
              <a:cs typeface="Arial"/>
              <a:sym typeface="Arial"/>
            </a:endParaRP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CD8CD463-33C4-8041-CBD9-6674FE9C48B4}"/>
              </a:ext>
            </a:extLst>
          </p:cNvPr>
          <p:cNvGrpSpPr/>
          <p:nvPr/>
        </p:nvGrpSpPr>
        <p:grpSpPr>
          <a:xfrm>
            <a:off x="5126767" y="3698086"/>
            <a:ext cx="508730" cy="425561"/>
            <a:chOff x="4332040" y="3672896"/>
            <a:chExt cx="508730" cy="425561"/>
          </a:xfrm>
          <a:solidFill>
            <a:schemeClr val="bg2">
              <a:lumMod val="85000"/>
            </a:schemeClr>
          </a:solidFill>
        </p:grpSpPr>
        <p:sp>
          <p:nvSpPr>
            <p:cNvPr id="15" name="Flèche : chevron 14">
              <a:extLst>
                <a:ext uri="{FF2B5EF4-FFF2-40B4-BE49-F238E27FC236}">
                  <a16:creationId xmlns:a16="http://schemas.microsoft.com/office/drawing/2014/main" id="{85A246BC-9249-6890-2952-3A7381BF00B3}"/>
                </a:ext>
              </a:extLst>
            </p:cNvPr>
            <p:cNvSpPr/>
            <p:nvPr/>
          </p:nvSpPr>
          <p:spPr>
            <a:xfrm>
              <a:off x="4555020" y="3672896"/>
              <a:ext cx="285750" cy="425561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7" name="Flèche : chevron 16">
              <a:extLst>
                <a:ext uri="{FF2B5EF4-FFF2-40B4-BE49-F238E27FC236}">
                  <a16:creationId xmlns:a16="http://schemas.microsoft.com/office/drawing/2014/main" id="{F213DC1C-62EB-FC62-366E-3C3057140D91}"/>
                </a:ext>
              </a:extLst>
            </p:cNvPr>
            <p:cNvSpPr/>
            <p:nvPr/>
          </p:nvSpPr>
          <p:spPr>
            <a:xfrm>
              <a:off x="4332040" y="3672896"/>
              <a:ext cx="285750" cy="425561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3930B144-6326-0CD7-8CF9-4D6740F3EBA6}"/>
              </a:ext>
            </a:extLst>
          </p:cNvPr>
          <p:cNvGrpSpPr/>
          <p:nvPr/>
        </p:nvGrpSpPr>
        <p:grpSpPr>
          <a:xfrm>
            <a:off x="6450677" y="2318188"/>
            <a:ext cx="4732563" cy="3185357"/>
            <a:chOff x="6326852" y="2677863"/>
            <a:chExt cx="4732563" cy="3185357"/>
          </a:xfrm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4020F81E-CB4C-3B42-D6FE-C20DB324F364}"/>
                </a:ext>
              </a:extLst>
            </p:cNvPr>
            <p:cNvGrpSpPr/>
            <p:nvPr/>
          </p:nvGrpSpPr>
          <p:grpSpPr>
            <a:xfrm>
              <a:off x="6326852" y="2677863"/>
              <a:ext cx="4732563" cy="985741"/>
              <a:chOff x="1132167" y="2603640"/>
              <a:chExt cx="4732563" cy="985741"/>
            </a:xfrm>
          </p:grpSpPr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3D04D9BD-CB1D-7954-CD04-FEA071E32C50}"/>
                  </a:ext>
                </a:extLst>
              </p:cNvPr>
              <p:cNvSpPr/>
              <p:nvPr/>
            </p:nvSpPr>
            <p:spPr>
              <a:xfrm>
                <a:off x="1132167" y="2603640"/>
                <a:ext cx="4732563" cy="985741"/>
              </a:xfrm>
              <a:prstGeom prst="roundRect">
                <a:avLst>
                  <a:gd name="adj" fmla="val 9877"/>
                </a:avLst>
              </a:prstGeom>
              <a:solidFill>
                <a:schemeClr val="bg2"/>
              </a:solidFill>
              <a:ln>
                <a:noFill/>
              </a:ln>
              <a:effectLst>
                <a:outerShdw blurRad="1270000" sx="92000" sy="92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endParaRPr lang="fr-FR" sz="1050" dirty="0">
                  <a:solidFill>
                    <a:srgbClr val="231F20"/>
                  </a:solidFill>
                  <a:latin typeface="Avenir Next LT Pro" panose="020B0504020202020204" pitchFamily="34" charset="77"/>
                </a:endParaRPr>
              </a:p>
            </p:txBody>
          </p:sp>
          <p:sp>
            <p:nvSpPr>
              <p:cNvPr id="22" name="Google Shape;260;p23">
                <a:extLst>
                  <a:ext uri="{FF2B5EF4-FFF2-40B4-BE49-F238E27FC236}">
                    <a16:creationId xmlns:a16="http://schemas.microsoft.com/office/drawing/2014/main" id="{A65135A7-42B8-E219-F1F9-1D2390DBD1DE}"/>
                  </a:ext>
                </a:extLst>
              </p:cNvPr>
              <p:cNvSpPr txBox="1"/>
              <p:nvPr/>
            </p:nvSpPr>
            <p:spPr>
              <a:xfrm>
                <a:off x="1359387" y="2679862"/>
                <a:ext cx="4503091" cy="750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>
                  <a:lnSpc>
                    <a:spcPct val="115000"/>
                  </a:lnSpc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fr" sz="2000" b="1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"/>
                    <a:cs typeface="Lexend Deca"/>
                    <a:sym typeface="Lexend Deca"/>
                  </a:rPr>
                  <a:t>Poste de dépense 1</a:t>
                </a:r>
              </a:p>
              <a:p>
                <a:pPr>
                  <a:lnSpc>
                    <a:spcPct val="115000"/>
                  </a:lnSpc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fr" sz="1200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 Light"/>
                    <a:cs typeface="Lexend Deca Light"/>
                    <a:sym typeface="Lexend Deca"/>
                  </a:rPr>
                  <a:t>Stratégie / Utilisation des fonds</a:t>
                </a:r>
                <a:endParaRPr sz="1200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 Light"/>
                </a:endParaRPr>
              </a:p>
            </p:txBody>
          </p:sp>
        </p:grp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5C986F7D-3B51-DF2F-367A-3A1787E77CF7}"/>
                </a:ext>
              </a:extLst>
            </p:cNvPr>
            <p:cNvGrpSpPr/>
            <p:nvPr/>
          </p:nvGrpSpPr>
          <p:grpSpPr>
            <a:xfrm>
              <a:off x="6326852" y="3777671"/>
              <a:ext cx="4732563" cy="985741"/>
              <a:chOff x="1132167" y="2603640"/>
              <a:chExt cx="4732563" cy="985741"/>
            </a:xfrm>
          </p:grpSpPr>
          <p:sp>
            <p:nvSpPr>
              <p:cNvPr id="24" name="Rectangle : coins arrondis 23">
                <a:extLst>
                  <a:ext uri="{FF2B5EF4-FFF2-40B4-BE49-F238E27FC236}">
                    <a16:creationId xmlns:a16="http://schemas.microsoft.com/office/drawing/2014/main" id="{40855E68-58F1-54E6-2EC5-FBFA1361ED57}"/>
                  </a:ext>
                </a:extLst>
              </p:cNvPr>
              <p:cNvSpPr/>
              <p:nvPr/>
            </p:nvSpPr>
            <p:spPr>
              <a:xfrm>
                <a:off x="1132167" y="2603640"/>
                <a:ext cx="4732563" cy="985741"/>
              </a:xfrm>
              <a:prstGeom prst="roundRect">
                <a:avLst>
                  <a:gd name="adj" fmla="val 9877"/>
                </a:avLst>
              </a:prstGeom>
              <a:solidFill>
                <a:schemeClr val="bg2"/>
              </a:solidFill>
              <a:ln>
                <a:noFill/>
              </a:ln>
              <a:effectLst>
                <a:outerShdw blurRad="1270000" sx="92000" sy="92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endParaRPr lang="fr-FR" sz="1050" dirty="0">
                  <a:solidFill>
                    <a:srgbClr val="231F20"/>
                  </a:solidFill>
                  <a:latin typeface="Avenir Next LT Pro" panose="020B0504020202020204" pitchFamily="34" charset="77"/>
                </a:endParaRPr>
              </a:p>
            </p:txBody>
          </p:sp>
          <p:sp>
            <p:nvSpPr>
              <p:cNvPr id="25" name="Google Shape;260;p23">
                <a:extLst>
                  <a:ext uri="{FF2B5EF4-FFF2-40B4-BE49-F238E27FC236}">
                    <a16:creationId xmlns:a16="http://schemas.microsoft.com/office/drawing/2014/main" id="{A65786CD-8F2D-C652-E625-23491E14E8C8}"/>
                  </a:ext>
                </a:extLst>
              </p:cNvPr>
              <p:cNvSpPr txBox="1"/>
              <p:nvPr/>
            </p:nvSpPr>
            <p:spPr>
              <a:xfrm>
                <a:off x="1359387" y="2679862"/>
                <a:ext cx="4503091" cy="750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>
                  <a:lnSpc>
                    <a:spcPct val="115000"/>
                  </a:lnSpc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fr" sz="2000" b="1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"/>
                    <a:cs typeface="Lexend Deca"/>
                    <a:sym typeface="Lexend Deca"/>
                  </a:rPr>
                  <a:t>Poste de dépense 2</a:t>
                </a:r>
              </a:p>
              <a:p>
                <a:pPr>
                  <a:lnSpc>
                    <a:spcPct val="115000"/>
                  </a:lnSpc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fr" sz="1200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 Light"/>
                    <a:cs typeface="Lexend Deca Light"/>
                    <a:sym typeface="Lexend Deca"/>
                  </a:rPr>
                  <a:t>Stratégie / Utilisation des fonds</a:t>
                </a:r>
                <a:endParaRPr sz="1200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 Light"/>
                </a:endParaRPr>
              </a:p>
            </p:txBody>
          </p:sp>
        </p:grp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E8EE61F4-C29D-A1B3-94F1-85D80623222E}"/>
                </a:ext>
              </a:extLst>
            </p:cNvPr>
            <p:cNvGrpSpPr/>
            <p:nvPr/>
          </p:nvGrpSpPr>
          <p:grpSpPr>
            <a:xfrm>
              <a:off x="6326852" y="4877479"/>
              <a:ext cx="4732563" cy="985741"/>
              <a:chOff x="1132167" y="2603640"/>
              <a:chExt cx="4732563" cy="985741"/>
            </a:xfrm>
          </p:grpSpPr>
          <p:sp>
            <p:nvSpPr>
              <p:cNvPr id="27" name="Rectangle : coins arrondis 26">
                <a:extLst>
                  <a:ext uri="{FF2B5EF4-FFF2-40B4-BE49-F238E27FC236}">
                    <a16:creationId xmlns:a16="http://schemas.microsoft.com/office/drawing/2014/main" id="{22ABC4F2-E0ED-4427-1A4D-51D199871D1A}"/>
                  </a:ext>
                </a:extLst>
              </p:cNvPr>
              <p:cNvSpPr/>
              <p:nvPr/>
            </p:nvSpPr>
            <p:spPr>
              <a:xfrm>
                <a:off x="1132167" y="2603640"/>
                <a:ext cx="4732563" cy="985741"/>
              </a:xfrm>
              <a:prstGeom prst="roundRect">
                <a:avLst>
                  <a:gd name="adj" fmla="val 9877"/>
                </a:avLst>
              </a:prstGeom>
              <a:solidFill>
                <a:schemeClr val="bg2"/>
              </a:solidFill>
              <a:ln>
                <a:noFill/>
              </a:ln>
              <a:effectLst>
                <a:outerShdw blurRad="1270000" sx="92000" sy="92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endParaRPr lang="fr-FR" sz="1050" dirty="0">
                  <a:solidFill>
                    <a:srgbClr val="231F20"/>
                  </a:solidFill>
                  <a:latin typeface="Avenir Next LT Pro" panose="020B0504020202020204" pitchFamily="34" charset="77"/>
                </a:endParaRPr>
              </a:p>
            </p:txBody>
          </p:sp>
          <p:sp>
            <p:nvSpPr>
              <p:cNvPr id="28" name="Google Shape;260;p23">
                <a:extLst>
                  <a:ext uri="{FF2B5EF4-FFF2-40B4-BE49-F238E27FC236}">
                    <a16:creationId xmlns:a16="http://schemas.microsoft.com/office/drawing/2014/main" id="{D86CC01D-94D5-6B10-2B98-32D054167CA3}"/>
                  </a:ext>
                </a:extLst>
              </p:cNvPr>
              <p:cNvSpPr txBox="1"/>
              <p:nvPr/>
            </p:nvSpPr>
            <p:spPr>
              <a:xfrm>
                <a:off x="1359387" y="2679862"/>
                <a:ext cx="4503091" cy="750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>
                  <a:lnSpc>
                    <a:spcPct val="115000"/>
                  </a:lnSpc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fr" sz="2000" b="1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"/>
                    <a:cs typeface="Lexend Deca"/>
                    <a:sym typeface="Lexend Deca"/>
                  </a:rPr>
                  <a:t>Poste de dépense 3</a:t>
                </a:r>
              </a:p>
              <a:p>
                <a:pPr>
                  <a:lnSpc>
                    <a:spcPct val="115000"/>
                  </a:lnSpc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fr" sz="1200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 Light"/>
                    <a:cs typeface="Lexend Deca Light"/>
                    <a:sym typeface="Lexend Deca"/>
                  </a:rPr>
                  <a:t>Stratégie / Utilisation des fonds</a:t>
                </a:r>
                <a:endParaRPr sz="1200" kern="0" dirty="0">
                  <a:solidFill>
                    <a:srgbClr val="000000"/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 Light"/>
                </a:endParaRPr>
              </a:p>
            </p:txBody>
          </p:sp>
        </p:grp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1B9D75B4-D9EE-247B-DAAA-321B315FBDF3}"/>
              </a:ext>
            </a:extLst>
          </p:cNvPr>
          <p:cNvGrpSpPr/>
          <p:nvPr/>
        </p:nvGrpSpPr>
        <p:grpSpPr>
          <a:xfrm>
            <a:off x="778466" y="2720803"/>
            <a:ext cx="3851617" cy="2380126"/>
            <a:chOff x="778466" y="2818066"/>
            <a:chExt cx="3851617" cy="2380126"/>
          </a:xfrm>
        </p:grpSpPr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41D89AC0-C0FC-444F-CD61-84D592C38344}"/>
                </a:ext>
              </a:extLst>
            </p:cNvPr>
            <p:cNvSpPr/>
            <p:nvPr/>
          </p:nvSpPr>
          <p:spPr>
            <a:xfrm>
              <a:off x="1412007" y="3509983"/>
              <a:ext cx="2412538" cy="814663"/>
            </a:xfrm>
            <a:prstGeom prst="roundRect">
              <a:avLst>
                <a:gd name="adj" fmla="val 9877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0" sx="92000" sy="9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fr-FR" sz="1050" dirty="0">
                <a:solidFill>
                  <a:srgbClr val="231F20"/>
                </a:solidFill>
                <a:latin typeface="Avenir Next LT Pro" panose="020B0504020202020204" pitchFamily="34" charset="77"/>
              </a:endParaRPr>
            </a:p>
          </p:txBody>
        </p: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529A0F23-0281-BB00-2317-F32702A31E10}"/>
                </a:ext>
              </a:extLst>
            </p:cNvPr>
            <p:cNvGrpSpPr/>
            <p:nvPr/>
          </p:nvGrpSpPr>
          <p:grpSpPr>
            <a:xfrm>
              <a:off x="778466" y="2818066"/>
              <a:ext cx="3679621" cy="1315769"/>
              <a:chOff x="778466" y="2818066"/>
              <a:chExt cx="3679621" cy="1315769"/>
            </a:xfrm>
          </p:grpSpPr>
          <p:sp>
            <p:nvSpPr>
              <p:cNvPr id="11" name="Google Shape;495;p104">
                <a:extLst>
                  <a:ext uri="{FF2B5EF4-FFF2-40B4-BE49-F238E27FC236}">
                    <a16:creationId xmlns:a16="http://schemas.microsoft.com/office/drawing/2014/main" id="{9756C1F3-A5CA-7EE1-CC2F-176E7A292890}"/>
                  </a:ext>
                </a:extLst>
              </p:cNvPr>
              <p:cNvSpPr/>
              <p:nvPr/>
            </p:nvSpPr>
            <p:spPr>
              <a:xfrm>
                <a:off x="2032057" y="3687900"/>
                <a:ext cx="1172441" cy="4459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3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ira Sans"/>
                  </a:rPr>
                  <a:t>XX k€</a:t>
                </a:r>
                <a:endParaRPr kumimoji="0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Fira Sans Light"/>
                </a:endParaRPr>
              </a:p>
            </p:txBody>
          </p:sp>
          <p:sp>
            <p:nvSpPr>
              <p:cNvPr id="12" name="Google Shape;495;p104">
                <a:extLst>
                  <a:ext uri="{FF2B5EF4-FFF2-40B4-BE49-F238E27FC236}">
                    <a16:creationId xmlns:a16="http://schemas.microsoft.com/office/drawing/2014/main" id="{B0726B63-9765-6E3B-64AD-4D12BCE659A7}"/>
                  </a:ext>
                </a:extLst>
              </p:cNvPr>
              <p:cNvSpPr/>
              <p:nvPr/>
            </p:nvSpPr>
            <p:spPr>
              <a:xfrm>
                <a:off x="778466" y="2818066"/>
                <a:ext cx="3679621" cy="405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3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400" b="1" kern="0" dirty="0">
                    <a:solidFill>
                      <a:srgbClr val="231F20"/>
                    </a:solidFill>
                    <a:latin typeface="Avenir Next LT Pro" panose="020B0504020202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ira Sans"/>
                  </a:rPr>
                  <a:t>MONTANT À LEVER</a:t>
                </a: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Fira Sans Light"/>
                </a:endParaRPr>
              </a:p>
            </p:txBody>
          </p:sp>
        </p:grpSp>
        <p:sp>
          <p:nvSpPr>
            <p:cNvPr id="30" name="Google Shape;260;p23">
              <a:extLst>
                <a:ext uri="{FF2B5EF4-FFF2-40B4-BE49-F238E27FC236}">
                  <a16:creationId xmlns:a16="http://schemas.microsoft.com/office/drawing/2014/main" id="{9912CA64-568F-7781-1A31-2AF9096CDC0E}"/>
                </a:ext>
              </a:extLst>
            </p:cNvPr>
            <p:cNvSpPr txBox="1"/>
            <p:nvPr/>
          </p:nvSpPr>
          <p:spPr>
            <a:xfrm>
              <a:off x="1412007" y="4376459"/>
              <a:ext cx="3218076" cy="821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fr" sz="1200" i="1" kern="0" dirty="0">
                  <a:solidFill>
                    <a:schemeClr val="bg2">
                      <a:lumMod val="50000"/>
                    </a:schemeClr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"/>
                </a:rPr>
                <a:t>Dont XXX en equity</a:t>
              </a:r>
            </a:p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</a:pPr>
              <a:r>
                <a:rPr lang="fr-FR" sz="1200" i="1" kern="0" dirty="0">
                  <a:solidFill>
                    <a:schemeClr val="bg2">
                      <a:lumMod val="50000"/>
                    </a:schemeClr>
                  </a:solidFill>
                  <a:latin typeface="Avenir Next LT Pro" panose="020B0504020202020204" pitchFamily="34" charset="0"/>
                  <a:ea typeface="Lexend Deca Light"/>
                  <a:cs typeface="Lexend Deca Light"/>
                  <a:sym typeface="Lexend Deca"/>
                </a:rPr>
                <a:t>Dont XXX en non-dilutif</a:t>
              </a:r>
              <a:endParaRPr lang="fr-FR" sz="1200" i="1" kern="0" dirty="0">
                <a:solidFill>
                  <a:schemeClr val="bg2">
                    <a:lumMod val="50000"/>
                  </a:schemeClr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 Light"/>
              </a:endParaRPr>
            </a:p>
            <a:p>
              <a:pPr>
                <a:lnSpc>
                  <a:spcPct val="115000"/>
                </a:lnSpc>
                <a:buClr>
                  <a:srgbClr val="000000"/>
                </a:buClr>
                <a:buSzPts val="1100"/>
                <a:buFont typeface="Arial"/>
                <a:buNone/>
              </a:pPr>
              <a:endParaRPr sz="1200" i="1" kern="0" dirty="0">
                <a:solidFill>
                  <a:schemeClr val="bg2">
                    <a:lumMod val="50000"/>
                  </a:schemeClr>
                </a:solidFill>
                <a:latin typeface="Avenir Next LT Pro" panose="020B0504020202020204" pitchFamily="34" charset="0"/>
                <a:ea typeface="Lexend Deca Light"/>
                <a:cs typeface="Lexend Deca Light"/>
                <a:sym typeface="Lexend De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6626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1B9837-3FBA-739F-A91E-B232D69B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Business Plan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EB4A4-030D-EB75-1C04-6CD6A2F13A1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fr-FR" dirty="0"/>
              <a:t>2024-2026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9D358E4-E92C-E8BF-511D-3DE623BCA2A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prstGeom prst="rect">
            <a:avLst/>
          </a:prstGeom>
        </p:spPr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latin typeface="Avenir Next LT Pro" panose="020B0504020202020204" pitchFamily="34" charset="0"/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8</a:t>
            </a:fld>
            <a:endParaRPr lang="fr-FR" kern="0" dirty="0">
              <a:latin typeface="Avenir Next LT Pro" panose="020B0504020202020204" pitchFamily="34" charset="0"/>
              <a:cs typeface="Arial"/>
              <a:sym typeface="Arial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BD21838-CD5B-FD77-403F-83BDF173EFCF}"/>
              </a:ext>
            </a:extLst>
          </p:cNvPr>
          <p:cNvSpPr/>
          <p:nvPr/>
        </p:nvSpPr>
        <p:spPr>
          <a:xfrm>
            <a:off x="6592704" y="1699901"/>
            <a:ext cx="54026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231F20"/>
                </a:solidFill>
                <a:latin typeface="Avenir Next LT Pro" panose="020B05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 LINE</a:t>
            </a:r>
            <a:endParaRPr lang="fr-FR" sz="1050" dirty="0">
              <a:solidFill>
                <a:srgbClr val="231F20"/>
              </a:solidFill>
              <a:latin typeface="Avenir Next LT Pro" panose="020B05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1E8D41C3-AA76-AF5C-8318-8005BFCDDF25}"/>
              </a:ext>
            </a:extLst>
          </p:cNvPr>
          <p:cNvGrpSpPr/>
          <p:nvPr/>
        </p:nvGrpSpPr>
        <p:grpSpPr>
          <a:xfrm>
            <a:off x="6696306" y="1997647"/>
            <a:ext cx="4178007" cy="4075165"/>
            <a:chOff x="1418495" y="1997647"/>
            <a:chExt cx="4178007" cy="4075165"/>
          </a:xfrm>
        </p:grpSpPr>
        <p:graphicFrame>
          <p:nvGraphicFramePr>
            <p:cNvPr id="34" name="Graphique 33">
              <a:extLst>
                <a:ext uri="{FF2B5EF4-FFF2-40B4-BE49-F238E27FC236}">
                  <a16:creationId xmlns:a16="http://schemas.microsoft.com/office/drawing/2014/main" id="{AEDFAF0E-536A-829F-0282-85A072CECE2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85665739"/>
                </p:ext>
              </p:extLst>
            </p:nvPr>
          </p:nvGraphicFramePr>
          <p:xfrm>
            <a:off x="1418495" y="1997647"/>
            <a:ext cx="4178007" cy="407516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4F74962A-9E2D-420B-A793-77E037C4BB20}"/>
                </a:ext>
              </a:extLst>
            </p:cNvPr>
            <p:cNvGrpSpPr/>
            <p:nvPr/>
          </p:nvGrpSpPr>
          <p:grpSpPr>
            <a:xfrm>
              <a:off x="1722418" y="2820879"/>
              <a:ext cx="1361814" cy="673275"/>
              <a:chOff x="1722418" y="2820879"/>
              <a:chExt cx="1361814" cy="673275"/>
            </a:xfrm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26915B1D-521F-432A-8850-11DC9BEDFC50}"/>
                  </a:ext>
                </a:extLst>
              </p:cNvPr>
              <p:cNvSpPr/>
              <p:nvPr/>
            </p:nvSpPr>
            <p:spPr>
              <a:xfrm>
                <a:off x="1722418" y="2820879"/>
                <a:ext cx="1361814" cy="673275"/>
              </a:xfrm>
              <a:prstGeom prst="roundRect">
                <a:avLst>
                  <a:gd name="adj" fmla="val 9877"/>
                </a:avLst>
              </a:prstGeom>
              <a:solidFill>
                <a:schemeClr val="bg2"/>
              </a:solidFill>
              <a:ln>
                <a:noFill/>
              </a:ln>
              <a:effectLst>
                <a:outerShdw blurRad="1270000" sx="92000" sy="92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endParaRPr lang="fr-FR" sz="1050" dirty="0">
                  <a:solidFill>
                    <a:srgbClr val="231F20"/>
                  </a:solidFill>
                  <a:latin typeface="Avenir Next LT Pro" panose="020B0504020202020204" pitchFamily="34" charset="77"/>
                </a:endParaRPr>
              </a:p>
            </p:txBody>
          </p:sp>
          <p:sp>
            <p:nvSpPr>
              <p:cNvPr id="39" name="Text 1">
                <a:extLst>
                  <a:ext uri="{FF2B5EF4-FFF2-40B4-BE49-F238E27FC236}">
                    <a16:creationId xmlns:a16="http://schemas.microsoft.com/office/drawing/2014/main" id="{A4D2A296-F704-E076-F6F0-B57E874ADFC8}"/>
                  </a:ext>
                </a:extLst>
              </p:cNvPr>
              <p:cNvSpPr/>
              <p:nvPr/>
            </p:nvSpPr>
            <p:spPr>
              <a:xfrm>
                <a:off x="1912817" y="2861798"/>
                <a:ext cx="981017" cy="591438"/>
              </a:xfrm>
              <a:prstGeom prst="rect">
                <a:avLst/>
              </a:prstGeom>
              <a:noFill/>
              <a:ln/>
              <a:effectLst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2000" b="1" i="0" u="none" strike="noStrike" kern="0" cap="none" spc="-36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Avenir Next LT Pro" panose="020B0504020202020204" pitchFamily="34" charset="0"/>
                    <a:ea typeface="Montserrat" pitchFamily="34" charset="-122"/>
                    <a:cs typeface="Montserrat" pitchFamily="34" charset="-120"/>
                  </a:rPr>
                  <a:t>+</a:t>
                </a:r>
                <a:r>
                  <a:rPr lang="fr-FR" sz="2000" b="1" kern="0" spc="-36" dirty="0">
                    <a:solidFill>
                      <a:srgbClr val="231F20"/>
                    </a:solidFill>
                    <a:latin typeface="Avenir Next LT Pro" panose="020B0504020202020204" pitchFamily="34" charset="0"/>
                    <a:ea typeface="Montserrat" pitchFamily="34" charset="-122"/>
                    <a:cs typeface="Montserrat" pitchFamily="34" charset="-120"/>
                  </a:rPr>
                  <a:t>XX</a:t>
                </a:r>
                <a:r>
                  <a:rPr kumimoji="0" lang="fr-FR" sz="1600" b="1" i="0" u="none" strike="noStrike" kern="0" cap="none" spc="-36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Avenir Next LT Pro" panose="020B0504020202020204" pitchFamily="34" charset="0"/>
                    <a:ea typeface="Montserrat" pitchFamily="34" charset="-122"/>
                    <a:cs typeface="Montserrat" pitchFamily="34" charset="-120"/>
                  </a:rPr>
                  <a:t>%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200" b="0" i="0" u="none" strike="noStrike" kern="0" cap="none" spc="-36" normalizeH="0" baseline="0" noProof="0" dirty="0">
                    <a:ln>
                      <a:noFill/>
                    </a:ln>
                    <a:solidFill>
                      <a:srgbClr val="231F20"/>
                    </a:solidFill>
                    <a:effectLst/>
                    <a:uLnTx/>
                    <a:uFillTx/>
                    <a:latin typeface="Avenir Next LT Pro" panose="020B0504020202020204" pitchFamily="34" charset="0"/>
                    <a:ea typeface="Montserrat" pitchFamily="34" charset="-122"/>
                    <a:cs typeface="Montserrat" pitchFamily="34" charset="-120"/>
                  </a:rPr>
                  <a:t>/an</a:t>
                </a:r>
                <a:endPara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venir Next LT Pro" panose="020B0504020202020204" pitchFamily="34" charset="0"/>
                </a:endParaRPr>
              </a:p>
            </p:txBody>
          </p:sp>
        </p:grp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7BFC74D5-116B-C1A8-ADB8-3970CC3C1816}"/>
              </a:ext>
            </a:extLst>
          </p:cNvPr>
          <p:cNvGrpSpPr/>
          <p:nvPr/>
        </p:nvGrpSpPr>
        <p:grpSpPr>
          <a:xfrm>
            <a:off x="1317688" y="2140323"/>
            <a:ext cx="4409469" cy="3467908"/>
            <a:chOff x="900638" y="2140323"/>
            <a:chExt cx="4409469" cy="3467908"/>
          </a:xfrm>
        </p:grpSpPr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9EC7DD8E-B326-C4EC-D013-5A5C64F69779}"/>
                </a:ext>
              </a:extLst>
            </p:cNvPr>
            <p:cNvGrpSpPr/>
            <p:nvPr/>
          </p:nvGrpSpPr>
          <p:grpSpPr>
            <a:xfrm>
              <a:off x="900638" y="2140323"/>
              <a:ext cx="4409469" cy="991524"/>
              <a:chOff x="567263" y="2206998"/>
              <a:chExt cx="4409469" cy="991524"/>
            </a:xfrm>
          </p:grpSpPr>
          <p:grpSp>
            <p:nvGrpSpPr>
              <p:cNvPr id="12" name="Groupe 11">
                <a:extLst>
                  <a:ext uri="{FF2B5EF4-FFF2-40B4-BE49-F238E27FC236}">
                    <a16:creationId xmlns:a16="http://schemas.microsoft.com/office/drawing/2014/main" id="{9CEB1F96-037C-0CFD-C307-6E5B4B7267DD}"/>
                  </a:ext>
                </a:extLst>
              </p:cNvPr>
              <p:cNvGrpSpPr/>
              <p:nvPr/>
            </p:nvGrpSpPr>
            <p:grpSpPr>
              <a:xfrm>
                <a:off x="567263" y="2212781"/>
                <a:ext cx="2068031" cy="985741"/>
                <a:chOff x="1176662" y="2603640"/>
                <a:chExt cx="2068031" cy="985741"/>
              </a:xfrm>
            </p:grpSpPr>
            <p:sp>
              <p:nvSpPr>
                <p:cNvPr id="13" name="Rectangle : coins arrondis 12">
                  <a:extLst>
                    <a:ext uri="{FF2B5EF4-FFF2-40B4-BE49-F238E27FC236}">
                      <a16:creationId xmlns:a16="http://schemas.microsoft.com/office/drawing/2014/main" id="{9421CBCD-9153-8F40-EC92-885D316C0241}"/>
                    </a:ext>
                  </a:extLst>
                </p:cNvPr>
                <p:cNvSpPr/>
                <p:nvPr/>
              </p:nvSpPr>
              <p:spPr>
                <a:xfrm>
                  <a:off x="1176662" y="2603640"/>
                  <a:ext cx="2068031" cy="985741"/>
                </a:xfrm>
                <a:prstGeom prst="roundRect">
                  <a:avLst>
                    <a:gd name="adj" fmla="val 9877"/>
                  </a:avLst>
                </a:prstGeom>
                <a:solidFill>
                  <a:schemeClr val="bg2"/>
                </a:solidFill>
                <a:ln>
                  <a:noFill/>
                </a:ln>
                <a:effectLst>
                  <a:outerShdw blurRad="1270000" sx="92000" sy="92000" algn="c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9pPr>
                </a:lstStyle>
                <a:p>
                  <a:pPr algn="ctr"/>
                  <a:endParaRPr lang="fr-FR" sz="1050" dirty="0">
                    <a:solidFill>
                      <a:srgbClr val="231F20"/>
                    </a:solidFill>
                    <a:latin typeface="Avenir Next LT Pro" panose="020B0504020202020204" pitchFamily="34" charset="77"/>
                  </a:endParaRPr>
                </a:p>
              </p:txBody>
            </p:sp>
            <p:sp>
              <p:nvSpPr>
                <p:cNvPr id="14" name="Google Shape;260;p23">
                  <a:extLst>
                    <a:ext uri="{FF2B5EF4-FFF2-40B4-BE49-F238E27FC236}">
                      <a16:creationId xmlns:a16="http://schemas.microsoft.com/office/drawing/2014/main" id="{7F33CBFB-FDC0-E853-2802-27209A264903}"/>
                    </a:ext>
                  </a:extLst>
                </p:cNvPr>
                <p:cNvSpPr txBox="1"/>
                <p:nvPr/>
              </p:nvSpPr>
              <p:spPr>
                <a:xfrm>
                  <a:off x="1207178" y="2679862"/>
                  <a:ext cx="2006999" cy="8217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algn="ctr">
                    <a:lnSpc>
                      <a:spcPct val="115000"/>
                    </a:lnSpc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fr" sz="2400" b="1" kern="0" dirty="0">
                      <a:solidFill>
                        <a:srgbClr val="000000"/>
                      </a:solidFill>
                      <a:latin typeface="Avenir Next LT Pro" panose="020B0504020202020204" pitchFamily="34" charset="0"/>
                      <a:ea typeface="Lexend Deca"/>
                      <a:cs typeface="Lexend Deca"/>
                      <a:sym typeface="Lexend Deca"/>
                    </a:rPr>
                    <a:t>XX</a:t>
                  </a:r>
                </a:p>
                <a:p>
                  <a:pPr algn="ctr">
                    <a:lnSpc>
                      <a:spcPct val="115000"/>
                    </a:lnSpc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fr" sz="1200" kern="0" dirty="0">
                      <a:solidFill>
                        <a:srgbClr val="000000"/>
                      </a:solidFill>
                      <a:latin typeface="Avenir Next LT Pro" panose="020B0504020202020204" pitchFamily="34" charset="0"/>
                      <a:ea typeface="Lexend Deca Light"/>
                      <a:cs typeface="Lexend Deca Light"/>
                      <a:sym typeface="Lexend Deca"/>
                    </a:rPr>
                    <a:t>Chiffre clé</a:t>
                  </a:r>
                  <a:endParaRPr sz="1200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 Light"/>
                    <a:cs typeface="Lexend Deca Light"/>
                    <a:sym typeface="Lexend Deca Light"/>
                  </a:endParaRPr>
                </a:p>
              </p:txBody>
            </p:sp>
          </p:grpSp>
          <p:grpSp>
            <p:nvGrpSpPr>
              <p:cNvPr id="21" name="Groupe 20">
                <a:extLst>
                  <a:ext uri="{FF2B5EF4-FFF2-40B4-BE49-F238E27FC236}">
                    <a16:creationId xmlns:a16="http://schemas.microsoft.com/office/drawing/2014/main" id="{441D3F78-44E0-FDB2-B9A9-BB32D8B4794C}"/>
                  </a:ext>
                </a:extLst>
              </p:cNvPr>
              <p:cNvGrpSpPr/>
              <p:nvPr/>
            </p:nvGrpSpPr>
            <p:grpSpPr>
              <a:xfrm>
                <a:off x="2908701" y="2206998"/>
                <a:ext cx="2068031" cy="985741"/>
                <a:chOff x="1176662" y="2603640"/>
                <a:chExt cx="2068031" cy="985741"/>
              </a:xfrm>
            </p:grpSpPr>
            <p:sp>
              <p:nvSpPr>
                <p:cNvPr id="22" name="Rectangle : coins arrondis 21">
                  <a:extLst>
                    <a:ext uri="{FF2B5EF4-FFF2-40B4-BE49-F238E27FC236}">
                      <a16:creationId xmlns:a16="http://schemas.microsoft.com/office/drawing/2014/main" id="{A0BF8C20-07E0-30CF-862B-2AC69AF1A75D}"/>
                    </a:ext>
                  </a:extLst>
                </p:cNvPr>
                <p:cNvSpPr/>
                <p:nvPr/>
              </p:nvSpPr>
              <p:spPr>
                <a:xfrm>
                  <a:off x="1176662" y="2603640"/>
                  <a:ext cx="2068031" cy="985741"/>
                </a:xfrm>
                <a:prstGeom prst="roundRect">
                  <a:avLst>
                    <a:gd name="adj" fmla="val 9877"/>
                  </a:avLst>
                </a:prstGeom>
                <a:solidFill>
                  <a:schemeClr val="bg2"/>
                </a:solidFill>
                <a:ln>
                  <a:noFill/>
                </a:ln>
                <a:effectLst>
                  <a:outerShdw blurRad="1270000" sx="92000" sy="92000" algn="c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9pPr>
                </a:lstStyle>
                <a:p>
                  <a:pPr algn="ctr"/>
                  <a:endParaRPr lang="fr-FR" sz="1050" dirty="0">
                    <a:solidFill>
                      <a:srgbClr val="231F20"/>
                    </a:solidFill>
                    <a:latin typeface="Avenir Next LT Pro" panose="020B0504020202020204" pitchFamily="34" charset="77"/>
                  </a:endParaRPr>
                </a:p>
              </p:txBody>
            </p:sp>
            <p:sp>
              <p:nvSpPr>
                <p:cNvPr id="23" name="Google Shape;260;p23">
                  <a:extLst>
                    <a:ext uri="{FF2B5EF4-FFF2-40B4-BE49-F238E27FC236}">
                      <a16:creationId xmlns:a16="http://schemas.microsoft.com/office/drawing/2014/main" id="{347C0B7B-16DC-E212-8622-C01E35389237}"/>
                    </a:ext>
                  </a:extLst>
                </p:cNvPr>
                <p:cNvSpPr txBox="1"/>
                <p:nvPr/>
              </p:nvSpPr>
              <p:spPr>
                <a:xfrm>
                  <a:off x="1207178" y="2679862"/>
                  <a:ext cx="2006999" cy="8217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algn="ctr">
                    <a:lnSpc>
                      <a:spcPct val="115000"/>
                    </a:lnSpc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fr" sz="2400" b="1" kern="0" dirty="0">
                      <a:solidFill>
                        <a:srgbClr val="000000"/>
                      </a:solidFill>
                      <a:latin typeface="Avenir Next LT Pro" panose="020B0504020202020204" pitchFamily="34" charset="0"/>
                      <a:ea typeface="Lexend Deca"/>
                      <a:cs typeface="Lexend Deca"/>
                      <a:sym typeface="Lexend Deca"/>
                    </a:rPr>
                    <a:t>XX</a:t>
                  </a:r>
                </a:p>
                <a:p>
                  <a:pPr algn="ctr">
                    <a:lnSpc>
                      <a:spcPct val="115000"/>
                    </a:lnSpc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fr" sz="1200" kern="0" dirty="0">
                      <a:solidFill>
                        <a:srgbClr val="000000"/>
                      </a:solidFill>
                      <a:latin typeface="Avenir Next LT Pro" panose="020B0504020202020204" pitchFamily="34" charset="0"/>
                      <a:ea typeface="Lexend Deca Light"/>
                      <a:cs typeface="Lexend Deca Light"/>
                      <a:sym typeface="Lexend Deca"/>
                    </a:rPr>
                    <a:t>Chiffre clé</a:t>
                  </a:r>
                  <a:endParaRPr sz="1200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 Light"/>
                    <a:cs typeface="Lexend Deca Light"/>
                    <a:sym typeface="Lexend Deca Light"/>
                  </a:endParaRPr>
                </a:p>
              </p:txBody>
            </p:sp>
          </p:grpSp>
        </p:grp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94FD8321-DB74-3AF0-2A3A-AD8233178CCC}"/>
                </a:ext>
              </a:extLst>
            </p:cNvPr>
            <p:cNvGrpSpPr/>
            <p:nvPr/>
          </p:nvGrpSpPr>
          <p:grpSpPr>
            <a:xfrm>
              <a:off x="900638" y="3378515"/>
              <a:ext cx="4409469" cy="991524"/>
              <a:chOff x="567263" y="2206998"/>
              <a:chExt cx="4409469" cy="991524"/>
            </a:xfrm>
          </p:grpSpPr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488444E0-C5EE-482E-0455-12BF42EBD900}"/>
                  </a:ext>
                </a:extLst>
              </p:cNvPr>
              <p:cNvGrpSpPr/>
              <p:nvPr/>
            </p:nvGrpSpPr>
            <p:grpSpPr>
              <a:xfrm>
                <a:off x="567263" y="2212781"/>
                <a:ext cx="2068031" cy="985741"/>
                <a:chOff x="1176662" y="2603640"/>
                <a:chExt cx="2068031" cy="985741"/>
              </a:xfrm>
            </p:grpSpPr>
            <p:sp>
              <p:nvSpPr>
                <p:cNvPr id="30" name="Rectangle : coins arrondis 29">
                  <a:extLst>
                    <a:ext uri="{FF2B5EF4-FFF2-40B4-BE49-F238E27FC236}">
                      <a16:creationId xmlns:a16="http://schemas.microsoft.com/office/drawing/2014/main" id="{7D7FA1A6-5BC0-D1C1-7A77-DD47C1681182}"/>
                    </a:ext>
                  </a:extLst>
                </p:cNvPr>
                <p:cNvSpPr/>
                <p:nvPr/>
              </p:nvSpPr>
              <p:spPr>
                <a:xfrm>
                  <a:off x="1176662" y="2603640"/>
                  <a:ext cx="2068031" cy="985741"/>
                </a:xfrm>
                <a:prstGeom prst="roundRect">
                  <a:avLst>
                    <a:gd name="adj" fmla="val 9877"/>
                  </a:avLst>
                </a:prstGeom>
                <a:solidFill>
                  <a:schemeClr val="bg2"/>
                </a:solidFill>
                <a:ln>
                  <a:noFill/>
                </a:ln>
                <a:effectLst>
                  <a:outerShdw blurRad="1270000" sx="92000" sy="92000" algn="c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9pPr>
                </a:lstStyle>
                <a:p>
                  <a:pPr algn="ctr"/>
                  <a:endParaRPr lang="fr-FR" sz="1050" dirty="0">
                    <a:solidFill>
                      <a:srgbClr val="231F20"/>
                    </a:solidFill>
                    <a:latin typeface="Avenir Next LT Pro" panose="020B0504020202020204" pitchFamily="34" charset="77"/>
                  </a:endParaRPr>
                </a:p>
              </p:txBody>
            </p:sp>
            <p:sp>
              <p:nvSpPr>
                <p:cNvPr id="31" name="Google Shape;260;p23">
                  <a:extLst>
                    <a:ext uri="{FF2B5EF4-FFF2-40B4-BE49-F238E27FC236}">
                      <a16:creationId xmlns:a16="http://schemas.microsoft.com/office/drawing/2014/main" id="{5BB183C8-7423-FA1A-EF7F-80F6CC01905E}"/>
                    </a:ext>
                  </a:extLst>
                </p:cNvPr>
                <p:cNvSpPr txBox="1"/>
                <p:nvPr/>
              </p:nvSpPr>
              <p:spPr>
                <a:xfrm>
                  <a:off x="1207178" y="2679862"/>
                  <a:ext cx="2006999" cy="8217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algn="ctr">
                    <a:lnSpc>
                      <a:spcPct val="115000"/>
                    </a:lnSpc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fr" sz="2400" b="1" kern="0" dirty="0">
                      <a:solidFill>
                        <a:srgbClr val="000000"/>
                      </a:solidFill>
                      <a:latin typeface="Avenir Next LT Pro" panose="020B0504020202020204" pitchFamily="34" charset="0"/>
                      <a:ea typeface="Lexend Deca"/>
                      <a:cs typeface="Lexend Deca"/>
                      <a:sym typeface="Lexend Deca"/>
                    </a:rPr>
                    <a:t>XX</a:t>
                  </a:r>
                </a:p>
                <a:p>
                  <a:pPr algn="ctr">
                    <a:lnSpc>
                      <a:spcPct val="115000"/>
                    </a:lnSpc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fr" sz="1200" kern="0" dirty="0">
                      <a:solidFill>
                        <a:srgbClr val="000000"/>
                      </a:solidFill>
                      <a:latin typeface="Avenir Next LT Pro" panose="020B0504020202020204" pitchFamily="34" charset="0"/>
                      <a:ea typeface="Lexend Deca Light"/>
                      <a:cs typeface="Lexend Deca Light"/>
                      <a:sym typeface="Lexend Deca"/>
                    </a:rPr>
                    <a:t>Chiffre clé</a:t>
                  </a:r>
                  <a:endParaRPr sz="1200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 Light"/>
                    <a:cs typeface="Lexend Deca Light"/>
                    <a:sym typeface="Lexend Deca Light"/>
                  </a:endParaRPr>
                </a:p>
              </p:txBody>
            </p:sp>
          </p:grpSp>
          <p:grpSp>
            <p:nvGrpSpPr>
              <p:cNvPr id="27" name="Groupe 26">
                <a:extLst>
                  <a:ext uri="{FF2B5EF4-FFF2-40B4-BE49-F238E27FC236}">
                    <a16:creationId xmlns:a16="http://schemas.microsoft.com/office/drawing/2014/main" id="{0DE54538-784D-6E8F-5DDA-99BA798089DF}"/>
                  </a:ext>
                </a:extLst>
              </p:cNvPr>
              <p:cNvGrpSpPr/>
              <p:nvPr/>
            </p:nvGrpSpPr>
            <p:grpSpPr>
              <a:xfrm>
                <a:off x="2908701" y="2206998"/>
                <a:ext cx="2068031" cy="985741"/>
                <a:chOff x="1176662" y="2603640"/>
                <a:chExt cx="2068031" cy="985741"/>
              </a:xfrm>
            </p:grpSpPr>
            <p:sp>
              <p:nvSpPr>
                <p:cNvPr id="28" name="Rectangle : coins arrondis 27">
                  <a:extLst>
                    <a:ext uri="{FF2B5EF4-FFF2-40B4-BE49-F238E27FC236}">
                      <a16:creationId xmlns:a16="http://schemas.microsoft.com/office/drawing/2014/main" id="{3829DB73-B144-D223-0079-6861D53B8438}"/>
                    </a:ext>
                  </a:extLst>
                </p:cNvPr>
                <p:cNvSpPr/>
                <p:nvPr/>
              </p:nvSpPr>
              <p:spPr>
                <a:xfrm>
                  <a:off x="1176662" y="2603640"/>
                  <a:ext cx="2068031" cy="985741"/>
                </a:xfrm>
                <a:prstGeom prst="roundRect">
                  <a:avLst>
                    <a:gd name="adj" fmla="val 9877"/>
                  </a:avLst>
                </a:prstGeom>
                <a:solidFill>
                  <a:schemeClr val="bg2"/>
                </a:solidFill>
                <a:ln>
                  <a:noFill/>
                </a:ln>
                <a:effectLst>
                  <a:outerShdw blurRad="1270000" sx="92000" sy="92000" algn="c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9pPr>
                </a:lstStyle>
                <a:p>
                  <a:pPr algn="ctr"/>
                  <a:endParaRPr lang="fr-FR" sz="1050" dirty="0">
                    <a:solidFill>
                      <a:srgbClr val="231F20"/>
                    </a:solidFill>
                    <a:latin typeface="Avenir Next LT Pro" panose="020B0504020202020204" pitchFamily="34" charset="77"/>
                  </a:endParaRPr>
                </a:p>
              </p:txBody>
            </p:sp>
            <p:sp>
              <p:nvSpPr>
                <p:cNvPr id="29" name="Google Shape;260;p23">
                  <a:extLst>
                    <a:ext uri="{FF2B5EF4-FFF2-40B4-BE49-F238E27FC236}">
                      <a16:creationId xmlns:a16="http://schemas.microsoft.com/office/drawing/2014/main" id="{EC7070E7-9393-EFDB-8F79-FEE7BADE9A52}"/>
                    </a:ext>
                  </a:extLst>
                </p:cNvPr>
                <p:cNvSpPr txBox="1"/>
                <p:nvPr/>
              </p:nvSpPr>
              <p:spPr>
                <a:xfrm>
                  <a:off x="1207178" y="2679862"/>
                  <a:ext cx="2006999" cy="8217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algn="ctr">
                    <a:lnSpc>
                      <a:spcPct val="115000"/>
                    </a:lnSpc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fr" sz="2400" b="1" kern="0" dirty="0">
                      <a:solidFill>
                        <a:srgbClr val="000000"/>
                      </a:solidFill>
                      <a:latin typeface="Avenir Next LT Pro" panose="020B0504020202020204" pitchFamily="34" charset="0"/>
                      <a:ea typeface="Lexend Deca"/>
                      <a:cs typeface="Lexend Deca"/>
                      <a:sym typeface="Lexend Deca"/>
                    </a:rPr>
                    <a:t>XX</a:t>
                  </a:r>
                </a:p>
                <a:p>
                  <a:pPr algn="ctr">
                    <a:lnSpc>
                      <a:spcPct val="115000"/>
                    </a:lnSpc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fr" sz="1200" kern="0" dirty="0">
                      <a:solidFill>
                        <a:srgbClr val="000000"/>
                      </a:solidFill>
                      <a:latin typeface="Avenir Next LT Pro" panose="020B0504020202020204" pitchFamily="34" charset="0"/>
                      <a:ea typeface="Lexend Deca Light"/>
                      <a:cs typeface="Lexend Deca Light"/>
                      <a:sym typeface="Lexend Deca"/>
                    </a:rPr>
                    <a:t>Chiffre clé</a:t>
                  </a:r>
                  <a:endParaRPr sz="1200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 Light"/>
                    <a:cs typeface="Lexend Deca Light"/>
                    <a:sym typeface="Lexend Deca Light"/>
                  </a:endParaRPr>
                </a:p>
              </p:txBody>
            </p:sp>
          </p:grpSp>
        </p:grpSp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5EDFAB9E-5F10-35C2-C648-05602926DBE8}"/>
                </a:ext>
              </a:extLst>
            </p:cNvPr>
            <p:cNvGrpSpPr/>
            <p:nvPr/>
          </p:nvGrpSpPr>
          <p:grpSpPr>
            <a:xfrm>
              <a:off x="900638" y="4616707"/>
              <a:ext cx="4409469" cy="991524"/>
              <a:chOff x="567263" y="2206998"/>
              <a:chExt cx="4409469" cy="991524"/>
            </a:xfrm>
          </p:grpSpPr>
          <p:grpSp>
            <p:nvGrpSpPr>
              <p:cNvPr id="33" name="Groupe 32">
                <a:extLst>
                  <a:ext uri="{FF2B5EF4-FFF2-40B4-BE49-F238E27FC236}">
                    <a16:creationId xmlns:a16="http://schemas.microsoft.com/office/drawing/2014/main" id="{C95575C5-01FA-C582-14AE-48889A286750}"/>
                  </a:ext>
                </a:extLst>
              </p:cNvPr>
              <p:cNvGrpSpPr/>
              <p:nvPr/>
            </p:nvGrpSpPr>
            <p:grpSpPr>
              <a:xfrm>
                <a:off x="567263" y="2212781"/>
                <a:ext cx="2068031" cy="985741"/>
                <a:chOff x="1176662" y="2603640"/>
                <a:chExt cx="2068031" cy="985741"/>
              </a:xfrm>
            </p:grpSpPr>
            <p:sp>
              <p:nvSpPr>
                <p:cNvPr id="38" name="Rectangle : coins arrondis 37">
                  <a:extLst>
                    <a:ext uri="{FF2B5EF4-FFF2-40B4-BE49-F238E27FC236}">
                      <a16:creationId xmlns:a16="http://schemas.microsoft.com/office/drawing/2014/main" id="{63181D66-49C2-75B4-B890-7DAF8CB959D8}"/>
                    </a:ext>
                  </a:extLst>
                </p:cNvPr>
                <p:cNvSpPr/>
                <p:nvPr/>
              </p:nvSpPr>
              <p:spPr>
                <a:xfrm>
                  <a:off x="1176662" y="2603640"/>
                  <a:ext cx="2068031" cy="985741"/>
                </a:xfrm>
                <a:prstGeom prst="roundRect">
                  <a:avLst>
                    <a:gd name="adj" fmla="val 9877"/>
                  </a:avLst>
                </a:prstGeom>
                <a:solidFill>
                  <a:schemeClr val="bg2"/>
                </a:solidFill>
                <a:ln>
                  <a:noFill/>
                </a:ln>
                <a:effectLst>
                  <a:outerShdw blurRad="1270000" sx="92000" sy="92000" algn="c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9pPr>
                </a:lstStyle>
                <a:p>
                  <a:pPr algn="ctr"/>
                  <a:endParaRPr lang="fr-FR" sz="1050" dirty="0">
                    <a:solidFill>
                      <a:srgbClr val="231F20"/>
                    </a:solidFill>
                    <a:latin typeface="Avenir Next LT Pro" panose="020B0504020202020204" pitchFamily="34" charset="77"/>
                  </a:endParaRPr>
                </a:p>
              </p:txBody>
            </p:sp>
            <p:sp>
              <p:nvSpPr>
                <p:cNvPr id="40" name="Google Shape;260;p23">
                  <a:extLst>
                    <a:ext uri="{FF2B5EF4-FFF2-40B4-BE49-F238E27FC236}">
                      <a16:creationId xmlns:a16="http://schemas.microsoft.com/office/drawing/2014/main" id="{FD347DDE-09A2-3BEF-FF8E-770493022441}"/>
                    </a:ext>
                  </a:extLst>
                </p:cNvPr>
                <p:cNvSpPr txBox="1"/>
                <p:nvPr/>
              </p:nvSpPr>
              <p:spPr>
                <a:xfrm>
                  <a:off x="1207178" y="2679862"/>
                  <a:ext cx="2006999" cy="8217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algn="ctr">
                    <a:lnSpc>
                      <a:spcPct val="115000"/>
                    </a:lnSpc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fr" sz="2400" b="1" kern="0" dirty="0">
                      <a:solidFill>
                        <a:srgbClr val="000000"/>
                      </a:solidFill>
                      <a:latin typeface="Avenir Next LT Pro" panose="020B0504020202020204" pitchFamily="34" charset="0"/>
                      <a:ea typeface="Lexend Deca"/>
                      <a:cs typeface="Lexend Deca"/>
                      <a:sym typeface="Lexend Deca"/>
                    </a:rPr>
                    <a:t>XX</a:t>
                  </a:r>
                </a:p>
                <a:p>
                  <a:pPr algn="ctr">
                    <a:lnSpc>
                      <a:spcPct val="115000"/>
                    </a:lnSpc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fr" sz="1200" kern="0" dirty="0">
                      <a:solidFill>
                        <a:srgbClr val="000000"/>
                      </a:solidFill>
                      <a:latin typeface="Avenir Next LT Pro" panose="020B0504020202020204" pitchFamily="34" charset="0"/>
                      <a:ea typeface="Lexend Deca Light"/>
                      <a:cs typeface="Lexend Deca Light"/>
                      <a:sym typeface="Lexend Deca"/>
                    </a:rPr>
                    <a:t>Chiffre clé</a:t>
                  </a:r>
                  <a:endParaRPr sz="1200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 Light"/>
                    <a:cs typeface="Lexend Deca Light"/>
                    <a:sym typeface="Lexend Deca Light"/>
                  </a:endParaRPr>
                </a:p>
              </p:txBody>
            </p:sp>
          </p:grpSp>
          <p:grpSp>
            <p:nvGrpSpPr>
              <p:cNvPr id="35" name="Groupe 34">
                <a:extLst>
                  <a:ext uri="{FF2B5EF4-FFF2-40B4-BE49-F238E27FC236}">
                    <a16:creationId xmlns:a16="http://schemas.microsoft.com/office/drawing/2014/main" id="{28F14CB7-7762-6E3D-A310-7B68AB95582C}"/>
                  </a:ext>
                </a:extLst>
              </p:cNvPr>
              <p:cNvGrpSpPr/>
              <p:nvPr/>
            </p:nvGrpSpPr>
            <p:grpSpPr>
              <a:xfrm>
                <a:off x="2908701" y="2206998"/>
                <a:ext cx="2068031" cy="985741"/>
                <a:chOff x="1176662" y="2603640"/>
                <a:chExt cx="2068031" cy="985741"/>
              </a:xfrm>
            </p:grpSpPr>
            <p:sp>
              <p:nvSpPr>
                <p:cNvPr id="36" name="Rectangle : coins arrondis 35">
                  <a:extLst>
                    <a:ext uri="{FF2B5EF4-FFF2-40B4-BE49-F238E27FC236}">
                      <a16:creationId xmlns:a16="http://schemas.microsoft.com/office/drawing/2014/main" id="{47B00860-FC7E-D76F-0710-D9CDB9FF0274}"/>
                    </a:ext>
                  </a:extLst>
                </p:cNvPr>
                <p:cNvSpPr/>
                <p:nvPr/>
              </p:nvSpPr>
              <p:spPr>
                <a:xfrm>
                  <a:off x="1176662" y="2603640"/>
                  <a:ext cx="2068031" cy="985741"/>
                </a:xfrm>
                <a:prstGeom prst="roundRect">
                  <a:avLst>
                    <a:gd name="adj" fmla="val 9877"/>
                  </a:avLst>
                </a:prstGeom>
                <a:solidFill>
                  <a:schemeClr val="bg2"/>
                </a:solidFill>
                <a:ln>
                  <a:noFill/>
                </a:ln>
                <a:effectLst>
                  <a:outerShdw blurRad="1270000" sx="92000" sy="92000" algn="ctr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lvl9pPr>
                </a:lstStyle>
                <a:p>
                  <a:pPr algn="ctr"/>
                  <a:endParaRPr lang="fr-FR" sz="1050" dirty="0">
                    <a:solidFill>
                      <a:srgbClr val="231F20"/>
                    </a:solidFill>
                    <a:latin typeface="Avenir Next LT Pro" panose="020B0504020202020204" pitchFamily="34" charset="77"/>
                  </a:endParaRPr>
                </a:p>
              </p:txBody>
            </p:sp>
            <p:sp>
              <p:nvSpPr>
                <p:cNvPr id="37" name="Google Shape;260;p23">
                  <a:extLst>
                    <a:ext uri="{FF2B5EF4-FFF2-40B4-BE49-F238E27FC236}">
                      <a16:creationId xmlns:a16="http://schemas.microsoft.com/office/drawing/2014/main" id="{17E547C9-68E4-842E-7EDA-D2693AC1E447}"/>
                    </a:ext>
                  </a:extLst>
                </p:cNvPr>
                <p:cNvSpPr txBox="1"/>
                <p:nvPr/>
              </p:nvSpPr>
              <p:spPr>
                <a:xfrm>
                  <a:off x="1207178" y="2679862"/>
                  <a:ext cx="2006999" cy="8217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algn="ctr">
                    <a:lnSpc>
                      <a:spcPct val="115000"/>
                    </a:lnSpc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fr" sz="2400" b="1" kern="0" dirty="0">
                      <a:solidFill>
                        <a:srgbClr val="000000"/>
                      </a:solidFill>
                      <a:latin typeface="Avenir Next LT Pro" panose="020B0504020202020204" pitchFamily="34" charset="0"/>
                      <a:ea typeface="Lexend Deca"/>
                      <a:cs typeface="Lexend Deca"/>
                      <a:sym typeface="Lexend Deca"/>
                    </a:rPr>
                    <a:t>XX</a:t>
                  </a:r>
                </a:p>
                <a:p>
                  <a:pPr algn="ctr">
                    <a:lnSpc>
                      <a:spcPct val="115000"/>
                    </a:lnSpc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fr" sz="1200" kern="0" dirty="0">
                      <a:solidFill>
                        <a:srgbClr val="000000"/>
                      </a:solidFill>
                      <a:latin typeface="Avenir Next LT Pro" panose="020B0504020202020204" pitchFamily="34" charset="0"/>
                      <a:ea typeface="Lexend Deca Light"/>
                      <a:cs typeface="Lexend Deca Light"/>
                      <a:sym typeface="Lexend Deca"/>
                    </a:rPr>
                    <a:t>Chiffre clé</a:t>
                  </a:r>
                  <a:endParaRPr sz="1200" kern="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Lexend Deca Light"/>
                    <a:cs typeface="Lexend Deca Light"/>
                    <a:sym typeface="Lexend Deca Light"/>
                  </a:endParaRPr>
                </a:p>
              </p:txBody>
            </p:sp>
          </p:grpSp>
        </p:grpSp>
      </p:grpSp>
      <p:sp>
        <p:nvSpPr>
          <p:cNvPr id="43" name="Espace réservé du numéro de diapositive 2">
            <a:extLst>
              <a:ext uri="{FF2B5EF4-FFF2-40B4-BE49-F238E27FC236}">
                <a16:creationId xmlns:a16="http://schemas.microsoft.com/office/drawing/2014/main" id="{A29A1614-60A7-C19F-2A88-9BDA6631465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90958" y="6313331"/>
            <a:ext cx="538479" cy="367401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rgbClr val="231F20"/>
                </a:solidFill>
                <a:latin typeface="Avenir Next LT Pro" panose="020B0504020202020204" pitchFamily="34" charset="0"/>
              </a:defRPr>
            </a:lvl1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fr-FR" kern="0" smtClean="0"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8</a:t>
            </a:fld>
            <a:endParaRPr lang="fr-FR" kern="0" dirty="0"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3291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2;p14">
            <a:extLst>
              <a:ext uri="{FF2B5EF4-FFF2-40B4-BE49-F238E27FC236}">
                <a16:creationId xmlns:a16="http://schemas.microsoft.com/office/drawing/2014/main" id="{E531A87E-624A-670B-5CFA-740E64A773DF}"/>
              </a:ext>
            </a:extLst>
          </p:cNvPr>
          <p:cNvSpPr/>
          <p:nvPr/>
        </p:nvSpPr>
        <p:spPr>
          <a:xfrm>
            <a:off x="4475659" y="3336321"/>
            <a:ext cx="862286" cy="842258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8575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  <a:buFont typeface="Arial"/>
              <a:buNone/>
            </a:pPr>
            <a:endParaRPr kern="0" dirty="0">
              <a:solidFill>
                <a:srgbClr val="FFFFFF"/>
              </a:solidFill>
              <a:latin typeface="Avenir Next LT Pro" panose="020B0504020202020204" pitchFamily="34" charset="0"/>
              <a:ea typeface="Arial"/>
              <a:cs typeface="Arial"/>
              <a:sym typeface="Arial"/>
            </a:endParaRP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367B7D1B-0DEC-5D5A-668F-AE78DFB5447C}"/>
              </a:ext>
            </a:extLst>
          </p:cNvPr>
          <p:cNvGrpSpPr/>
          <p:nvPr/>
        </p:nvGrpSpPr>
        <p:grpSpPr>
          <a:xfrm>
            <a:off x="5627322" y="3108405"/>
            <a:ext cx="2049821" cy="1298090"/>
            <a:chOff x="5627322" y="3108405"/>
            <a:chExt cx="2049821" cy="1298090"/>
          </a:xfrm>
        </p:grpSpPr>
        <p:sp>
          <p:nvSpPr>
            <p:cNvPr id="7" name="Google Shape;73;p14">
              <a:extLst>
                <a:ext uri="{FF2B5EF4-FFF2-40B4-BE49-F238E27FC236}">
                  <a16:creationId xmlns:a16="http://schemas.microsoft.com/office/drawing/2014/main" id="{B4F4ECC2-C121-6348-3EB4-A87B0C78F150}"/>
                </a:ext>
              </a:extLst>
            </p:cNvPr>
            <p:cNvSpPr txBox="1"/>
            <p:nvPr/>
          </p:nvSpPr>
          <p:spPr>
            <a:xfrm>
              <a:off x="5627322" y="3108405"/>
              <a:ext cx="2049821" cy="715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50000"/>
                </a:lnSpc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fr-FR" sz="1200" b="1" kern="0" dirty="0">
                  <a:solidFill>
                    <a:schemeClr val="bg2"/>
                  </a:solidFill>
                  <a:latin typeface="Avenir Next LT Pro" panose="020B0504020202020204" pitchFamily="34" charset="0"/>
                  <a:ea typeface="Lexend Deca"/>
                  <a:cs typeface="Lexend Deca"/>
                  <a:sym typeface="Lexend Deca"/>
                </a:rPr>
                <a:t>Prénom nom</a:t>
              </a:r>
              <a:endParaRPr sz="1200" b="1" kern="0" dirty="0">
                <a:solidFill>
                  <a:schemeClr val="bg2"/>
                </a:solidFill>
                <a:latin typeface="Avenir Next LT Pro" panose="020B0504020202020204" pitchFamily="34" charset="0"/>
                <a:ea typeface="Lexend Deca"/>
                <a:cs typeface="Lexend Deca"/>
                <a:sym typeface="Lexend Deca"/>
              </a:endParaRPr>
            </a:p>
            <a:p>
              <a:pPr>
                <a:lnSpc>
                  <a:spcPct val="150000"/>
                </a:lnSpc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fr" sz="1100" kern="0" dirty="0">
                  <a:latin typeface="Avenir Next LT Pro" panose="020B0504020202020204" pitchFamily="34" charset="0"/>
                  <a:ea typeface="Lexend Deca ExtraLight"/>
                  <a:cs typeface="Lexend Deca ExtraLight"/>
                  <a:sym typeface="Lexend Deca ExtraLight"/>
                </a:rPr>
                <a:t>CEO</a:t>
              </a:r>
              <a:endParaRPr sz="1100" kern="0" dirty="0">
                <a:latin typeface="Avenir Next LT Pro" panose="020B0504020202020204" pitchFamily="34" charset="0"/>
                <a:ea typeface="Lexend Deca ExtraLight"/>
                <a:cs typeface="Lexend Deca ExtraLight"/>
                <a:sym typeface="Lexend Deca ExtraLight"/>
              </a:endParaRPr>
            </a:p>
          </p:txBody>
        </p:sp>
        <p:sp>
          <p:nvSpPr>
            <p:cNvPr id="8" name="Google Shape;73;p14">
              <a:extLst>
                <a:ext uri="{FF2B5EF4-FFF2-40B4-BE49-F238E27FC236}">
                  <a16:creationId xmlns:a16="http://schemas.microsoft.com/office/drawing/2014/main" id="{6199D533-37A2-E860-A44E-E39308A57401}"/>
                </a:ext>
              </a:extLst>
            </p:cNvPr>
            <p:cNvSpPr txBox="1"/>
            <p:nvPr/>
          </p:nvSpPr>
          <p:spPr>
            <a:xfrm>
              <a:off x="5627322" y="3714028"/>
              <a:ext cx="2049821" cy="692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50000"/>
                </a:lnSpc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fr" sz="1100" kern="0" dirty="0">
                  <a:latin typeface="Avenir Next LT Pro" panose="020B0504020202020204" pitchFamily="34" charset="0"/>
                  <a:ea typeface="Lexend Deca ExtraLight"/>
                  <a:cs typeface="Lexend Deca ExtraLight"/>
                  <a:sym typeface="Lexend Deca ExtraLight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prénom-nom@startup.com</a:t>
              </a:r>
              <a:endParaRPr lang="fr" sz="1100" kern="0" dirty="0">
                <a:latin typeface="Avenir Next LT Pro" panose="020B0504020202020204" pitchFamily="34" charset="0"/>
                <a:ea typeface="Lexend Deca ExtraLight"/>
                <a:cs typeface="Lexend Deca ExtraLight"/>
                <a:sym typeface="Lexend Deca ExtraLight"/>
              </a:endParaRPr>
            </a:p>
            <a:p>
              <a:pPr>
                <a:lnSpc>
                  <a:spcPct val="150000"/>
                </a:lnSpc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fr" sz="1100" kern="0" dirty="0">
                  <a:latin typeface="Avenir Next LT Pro" panose="020B0504020202020204" pitchFamily="34" charset="0"/>
                  <a:ea typeface="Lexend Deca ExtraLight"/>
                  <a:cs typeface="Lexend Deca ExtraLight"/>
                  <a:sym typeface="Lexend Deca ExtraLight"/>
                </a:rPr>
                <a:t>06 12 34 56 78</a:t>
              </a:r>
              <a:endParaRPr sz="1100" kern="0" dirty="0">
                <a:latin typeface="Avenir Next LT Pro" panose="020B0504020202020204" pitchFamily="34" charset="0"/>
                <a:ea typeface="Lexend Deca ExtraLight"/>
                <a:cs typeface="Lexend Deca ExtraLight"/>
                <a:sym typeface="Lexend Deca ExtraLight"/>
              </a:endParaRPr>
            </a:p>
          </p:txBody>
        </p:sp>
      </p:grp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019D31BF-F826-B90C-E99E-32D75F307495}"/>
              </a:ext>
            </a:extLst>
          </p:cNvPr>
          <p:cNvSpPr/>
          <p:nvPr/>
        </p:nvSpPr>
        <p:spPr>
          <a:xfrm>
            <a:off x="4660400" y="4751401"/>
            <a:ext cx="2871201" cy="404240"/>
          </a:xfrm>
          <a:prstGeom prst="roundRect">
            <a:avLst>
              <a:gd name="adj" fmla="val 14781"/>
            </a:avLst>
          </a:prstGeom>
          <a:solidFill>
            <a:schemeClr val="bg2"/>
          </a:solidFill>
          <a:ln w="25400" cap="flat" cmpd="sng" algn="ctr">
            <a:noFill/>
            <a:prstDash val="solid"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venir Next LT Pro" panose="020B0504020202020204" pitchFamily="34" charset="0"/>
                <a:sym typeface="Arial"/>
              </a:rPr>
              <a:t>PRENDRE RENDEZ-VOUS</a:t>
            </a:r>
          </a:p>
        </p:txBody>
      </p:sp>
      <p:pic>
        <p:nvPicPr>
          <p:cNvPr id="4" name="Image 3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6A37EFB5-637C-4C7F-1F4A-001991C7F1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771" y="1918572"/>
            <a:ext cx="4346457" cy="95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496451"/>
      </p:ext>
    </p:extLst>
  </p:cSld>
  <p:clrMapOvr>
    <a:masterClrMapping/>
  </p:clrMapOvr>
</p:sld>
</file>

<file path=ppt/theme/theme1.xml><?xml version="1.0" encoding="utf-8"?>
<a:theme xmlns:a="http://schemas.openxmlformats.org/drawingml/2006/main" name="Booké Main">
  <a:themeElements>
    <a:clrScheme name="Custom 6">
      <a:dk1>
        <a:srgbClr val="FFFFFF"/>
      </a:dk1>
      <a:lt1>
        <a:srgbClr val="1D0E46"/>
      </a:lt1>
      <a:dk2>
        <a:srgbClr val="FFFFFF"/>
      </a:dk2>
      <a:lt2>
        <a:srgbClr val="000000"/>
      </a:lt2>
      <a:accent1>
        <a:srgbClr val="FFCE01"/>
      </a:accent1>
      <a:accent2>
        <a:srgbClr val="514F7D"/>
      </a:accent2>
      <a:accent3>
        <a:srgbClr val="090249"/>
      </a:accent3>
      <a:accent4>
        <a:srgbClr val="2E2960"/>
      </a:accent4>
      <a:accent5>
        <a:srgbClr val="379A86"/>
      </a:accent5>
      <a:accent6>
        <a:srgbClr val="328682"/>
      </a:accent6>
      <a:hlink>
        <a:srgbClr val="5B9BD5"/>
      </a:hlink>
      <a:folHlink>
        <a:srgbClr val="70AD4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algn="l">
          <a:defRPr sz="1600" dirty="0" smtClean="0">
            <a:latin typeface="Fira Sans Light" panose="020B04030500000200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C 1">
    <a:dk1>
      <a:srgbClr val="190D89"/>
    </a:dk1>
    <a:lt1>
      <a:srgbClr val="FDFBFA"/>
    </a:lt1>
    <a:dk2>
      <a:srgbClr val="190D89"/>
    </a:dk2>
    <a:lt2>
      <a:srgbClr val="FBFCF9"/>
    </a:lt2>
    <a:accent1>
      <a:srgbClr val="ECEDEE"/>
    </a:accent1>
    <a:accent2>
      <a:srgbClr val="E9EDF3"/>
    </a:accent2>
    <a:accent3>
      <a:srgbClr val="180D88"/>
    </a:accent3>
    <a:accent4>
      <a:srgbClr val="000C3C"/>
    </a:accent4>
    <a:accent5>
      <a:srgbClr val="5B9BD5"/>
    </a:accent5>
    <a:accent6>
      <a:srgbClr val="70AD47"/>
    </a:accent6>
    <a:hlink>
      <a:srgbClr val="190D8A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AC 1">
    <a:dk1>
      <a:srgbClr val="190D89"/>
    </a:dk1>
    <a:lt1>
      <a:srgbClr val="FDFBFA"/>
    </a:lt1>
    <a:dk2>
      <a:srgbClr val="190D89"/>
    </a:dk2>
    <a:lt2>
      <a:srgbClr val="FBFCF9"/>
    </a:lt2>
    <a:accent1>
      <a:srgbClr val="ECEDEE"/>
    </a:accent1>
    <a:accent2>
      <a:srgbClr val="E9EDF3"/>
    </a:accent2>
    <a:accent3>
      <a:srgbClr val="180D88"/>
    </a:accent3>
    <a:accent4>
      <a:srgbClr val="000C3C"/>
    </a:accent4>
    <a:accent5>
      <a:srgbClr val="5B9BD5"/>
    </a:accent5>
    <a:accent6>
      <a:srgbClr val="70AD47"/>
    </a:accent6>
    <a:hlink>
      <a:srgbClr val="190D8A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1039</TotalTime>
  <Words>320</Words>
  <Application>Microsoft Office PowerPoint</Application>
  <PresentationFormat>Grand écran</PresentationFormat>
  <Paragraphs>127</Paragraphs>
  <Slides>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Avenir Next LT Pro</vt:lpstr>
      <vt:lpstr>Calibri</vt:lpstr>
      <vt:lpstr>Montserrat</vt:lpstr>
      <vt:lpstr>Open Sans</vt:lpstr>
      <vt:lpstr>Booké Main</vt:lpstr>
      <vt:lpstr>Présentation PowerPoint</vt:lpstr>
      <vt:lpstr>Marché</vt:lpstr>
      <vt:lpstr>Fonctionnalités</vt:lpstr>
      <vt:lpstr>Business model</vt:lpstr>
      <vt:lpstr>Traction commerciale</vt:lpstr>
      <vt:lpstr>Equipe</vt:lpstr>
      <vt:lpstr>Besoin de financement</vt:lpstr>
      <vt:lpstr>Business Plan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Antoine Barczyk</dc:creator>
  <cp:lastModifiedBy>Antoine Barczyk</cp:lastModifiedBy>
  <cp:revision>19</cp:revision>
  <dcterms:created xsi:type="dcterms:W3CDTF">2023-03-29T12:16:06Z</dcterms:created>
  <dcterms:modified xsi:type="dcterms:W3CDTF">2023-10-05T14:19:05Z</dcterms:modified>
</cp:coreProperties>
</file>